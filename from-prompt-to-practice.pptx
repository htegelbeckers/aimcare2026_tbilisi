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professorship. Today's question: can a nurse educator, not a media studio, create an immersive training scenario? And what does it take to use AI for that responsibly?
Everything shown is real material from the NEXR project and from our Finnish partner 3DBear. The live example is on slide 9, the example links on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starting point of NEXR. In our curriculum analysis we asked every partner country to select learning outcomes where XR adds value, and to give priority to high-risk, low-frequency situations.
The third card is the bottleneck this talk is about: production. If only specialists can make XR, it stays a pilot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NEXR is about modernising nursing education with XR, AI and human-centred design. OvGU coordinates and leads the design methodology. 3DBear leads the two WP4 tasks on 360° VR scenarios and AI-based XR content, and that is what I will show.
WP3 also includes training a pedagogical AI model to produce XR content along human-centred design principles. The workflow you will see is the practical side of that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of the talk. "AI used correctly" is not a better prompt. It is a workflow where the method is built in, the AI is checked, and the teacher keeps the decisions.
A skill is a written method. For simulations it encodes simulation pedagogy: every scenario needs a briefing, at least one decision with a consequence, and a debriefing with reflection. The AI follows it whoever is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is ordinary teacher language. No technical terms, no 3D skills.
Important: the AI does not jump to a result. It asks one question at a time, starting with where the simulation sits in the course. Without that it cannot judge difficulty or what the briefing must contain. Teachers can also upload their own material, such as a national guideline.
The example I use throughout was built by 3DBear for NEXR with the same pipeline, starting from a learning outcome in our own curriculum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where pedagogy enters. The structure is briefing, experience, decision, consequence, debriefing, which follows the experiential learning cycle.
Note the wrong answers. "Put her to bed to rest" is the plausible mistake. The scenario shows the consequence, that care is delayed, explains why, and sends the learner back to decide again. Errors are a learning resource, not a dead end.
The approval gate is deliberate. The teacher checks the pedagogy and clinical logic while it is still cheap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Generation runs in the background for a few minutes. The pipeline creates the panoramas, then uses image recognition to find the objects the plan refers to and puts the hotspots exactly on them.
The speaking patient matters. Hearing slurred, confused speech is part of recognising a stroke, so Aino's voice is a clinical clue, not decoration.
If the image has an odd detail, the teacher marks it and only that area is redrawn. Regenerating the whole image would move every object out from under its hotspot.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review. The machine checks what machines do well: does every scene load, can the scenario be completed, does anything overlap. People check what only people can: is it clinically right, and right for our context.
Localisation is clinical as well as linguistic. Emergency numbers, assessment tools and responsibilities differ between countries. That decision belongs to a nurse educator, not to the AI.
Be honest about status: publishing directly from Creator is still in development. Today the simulations go into Moodle via LTI, which reports the score back to the gradebook.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published scenario from the same pipeline, running live. Walk through it briefly: answer the activating question in the briefing, look around the ward in 360°, click two or three hazards (wet floor without a sign, trailing cable, overflowing waste bin), then take the spilled-medication decision. Choose the wrong option first to show the near-miss consequence.
Point out the same structure as the plan on slide 6: briefing, explore, decide, consequence, debriefing.
In PowerPoint: click the screenshot or the button to open the live environment in the browser, then switch back to the slides. It needs an internet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outline of a real Finnish course, translated into English. It is a unit in the mental health and substance abuse competence area of the practical-nurse qualification.
Point out the mix: theory books with small tasks, 360° simulations for the high-stakes situations such as acute psychosis or raising suicidality, and spoken conversation practice for interaction skills like motivational interviewing.
The same principle as before applies: AI did the production, people decided. Two external subject experts commented continuously, and their corrections went back through the workspace. About four months from first file to production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a typical question: does this only work for the country where it was made? Three exercises come from existing Finnish courses, one was built new for NEXR. All four run in five languages, including the narration.
Be clear that this is a demonstrator, not the final NEXR course. Which exercises go into the XR Training Kit is decided through the human-centred design process in WP3 and the pilots.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"used correctly" part. None of these is a promise that AI is accurate. They assume it is not, and build the checks around it.
The reading-list example is a good illustration: the fake sources looked completely plausible, with authors, titles and years. Only systematic verification found them.
On data protection: authoring needs no personal data at all, because the cases are fictional. Where students interact with AI, the choice of provider is a separate decision for each institution's data-protection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an engineering pedagogics point of view, the interesting shift is in the teacher's role: less production, more design and judgement. That also means teacher education has to prepare for it.
Avoid promising learning gains. We do not have that evidence yet; the pilots are where we will collect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hazard scenario was shown live on slide 9. If time allows, also open the acute deterioration simulation: switch the language at the top, enter the room, click a clue, listen to Aino, and choose a wrong answer first to show the consequence scene.
The simulations run in an ordinary web browser; no headset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points and invite questions. If someone asks about cost or access, refer them to 3DBear. If they ask about evidence, point to the NEXR pilots.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11094415" cy="292608"/>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554480"/>
            <a:ext cx="11094415" cy="9601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548640" y="2606040"/>
            <a:ext cx="11094415" cy="502920"/>
          </a:xfrm>
          <a:prstGeom prst="rect">
            <a:avLst/>
          </a:prstGeom>
          <a:noFill/>
          <a:ln/>
        </p:spPr>
        <p:txBody>
          <a:bodyPr wrap="square" rtlCol="0"/>
          <a:lstStyle>
            <a:lvl1pPr indent="0" marL="0">
              <a:buNone/>
              <a:defRPr lang="en-US" sz="2200" b="1" dirty="0">
                <a:solidFill>
                  <a:schemeClr val="bg1"/>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2"/>
        </a:solidFill>
      </p:bgPr>
    </p:bg>
    <p:spTree>
      <p:nvGrpSpPr>
        <p:cNvPr id="1" name=""/>
        <p:cNvGrpSpPr/>
        <p:nvPr/>
      </p:nvGrpSpPr>
      <p:grpSpPr>
        <a:xfrm>
          <a:off x="0" y="0"/>
          <a:ext cx="0" cy="0"/>
          <a:chOff x="0" y="0"/>
          <a:chExt cx="0" cy="0"/>
        </a:xfrm>
      </p:grpSpPr>
      <p:pic>
        <p:nvPicPr>
          <p:cNvPr id="2" name="Image 0" descr="/private/tmp/claude-501/-Users-h-tegelbeckers-GitHub-Research-Talks-2026-AIME2026-Tbilisi/12b66ffb-ab74-40ba-9d65-6f1b8567671a/scratchpad/build/img/ovgu.png">    </p:cNvPr>
          <p:cNvPicPr>
            <a:picLocks noChangeAspect="1"/>
          </p:cNvPicPr>
          <p:nvPr/>
        </p:nvPicPr>
        <p:blipFill>
          <a:blip r:embed="rId1"/>
          <a:stretch>
            <a:fillRect/>
          </a:stretch>
        </p:blipFill>
        <p:spPr>
          <a:xfrm>
            <a:off x="365760" y="6382512"/>
            <a:ext cx="813113" cy="274320"/>
          </a:xfrm>
          <a:prstGeom prst="rect">
            <a:avLst/>
          </a:prstGeom>
        </p:spPr>
      </p:pic>
      <p:sp>
        <p:nvSpPr>
          <p:cNvPr id="3" name="Text 0"/>
          <p:cNvSpPr/>
          <p:nvPr/>
        </p:nvSpPr>
        <p:spPr>
          <a:xfrm>
            <a:off x="1234440" y="6382512"/>
            <a:ext cx="4572000" cy="274320"/>
          </a:xfrm>
          <a:prstGeom prst="rect">
            <a:avLst/>
          </a:prstGeom>
          <a:noFill/>
          <a:ln/>
        </p:spPr>
        <p:txBody>
          <a:bodyPr wrap="square" lIns="0" tIns="0" rIns="0" bIns="0" rtlCol="0" anchor="ctr"/>
          <a:lstStyle/>
          <a:p>
            <a:pPr indent="0" marL="0">
              <a:buNone/>
            </a:pPr>
            <a:r>
              <a:rPr lang="en-US" sz="900" b="1" dirty="0">
                <a:solidFill>
                  <a:srgbClr val="7D8C8F"/>
                </a:solidFill>
              </a:rPr>
              <a:t>NEXR · OvGU Magdeburg × 3DBear</a:t>
            </a:r>
            <a:endParaRPr lang="en-US" sz="900" dirty="0"/>
          </a:p>
        </p:txBody>
      </p:sp>
      <p:sp>
        <p:nvSpPr>
          <p:cNvPr id="4" name="Text 1"/>
          <p:cNvSpPr/>
          <p:nvPr>
            <p:ph idx="102" type="body" hasCustomPrompt="1"/>
          </p:nvPr>
        </p:nvSpPr>
        <p:spPr>
          <a:xfrm>
            <a:off x="548640" y="384048"/>
            <a:ext cx="11094415" cy="292608"/>
          </a:xfrm>
          <a:prstGeom prst="rect">
            <a:avLst/>
          </a:prstGeom>
          <a:noFill/>
          <a:ln/>
        </p:spPr>
        <p:txBody>
          <a:bodyPr wrap="square" rtlCol="0"/>
          <a:lstStyle>
            <a:lvl1pPr indent="0" marL="0">
              <a:buNone/>
              <a:defRPr lang="en-US" sz="1100" b="1" dirty="0">
                <a:solidFill>
                  <a:schemeClr val="accent2"/>
                </a:solidFill>
              </a:defRPr>
            </a:lvl1pPr>
          </a:lstStyle>
          <a:p>
            <a:pPr indent="0" marL="0">
              <a:buNone/>
            </a:pPr>
            <a:endParaRPr lang="en-US" sz="1100" dirty="0"/>
          </a:p>
        </p:txBody>
      </p:sp>
      <p:sp>
        <p:nvSpPr>
          <p:cNvPr id="5" name="Text 1"/>
          <p:cNvSpPr/>
          <p:nvPr>
            <p:ph idx="103" type="title" hasCustomPrompt="1"/>
          </p:nvPr>
        </p:nvSpPr>
        <p:spPr>
          <a:xfrm>
            <a:off x="548640" y="731520"/>
            <a:ext cx="11094415" cy="9601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pic>
        <p:nvPicPr>
          <p:cNvPr id="2" name="Image 0" descr="/private/tmp/claude-501/-Users-h-tegelbeckers-GitHub-Research-Talks-2026-AIME2026-Tbilisi/12b66ffb-ab74-40ba-9d65-6f1b8567671a/scratchpad/build/img/ovgu.png">    </p:cNvPr>
          <p:cNvPicPr>
            <a:picLocks noChangeAspect="1"/>
          </p:cNvPicPr>
          <p:nvPr/>
        </p:nvPicPr>
        <p:blipFill>
          <a:blip r:embed="rId1"/>
          <a:stretch>
            <a:fillRect/>
          </a:stretch>
        </p:blipFill>
        <p:spPr>
          <a:xfrm>
            <a:off x="365760" y="6382512"/>
            <a:ext cx="813113" cy="274320"/>
          </a:xfrm>
          <a:prstGeom prst="rect">
            <a:avLst/>
          </a:prstGeom>
        </p:spPr>
      </p:pic>
      <p:sp>
        <p:nvSpPr>
          <p:cNvPr id="3" name="Text 0"/>
          <p:cNvSpPr/>
          <p:nvPr/>
        </p:nvSpPr>
        <p:spPr>
          <a:xfrm>
            <a:off x="1234440" y="6382512"/>
            <a:ext cx="4572000" cy="274320"/>
          </a:xfrm>
          <a:prstGeom prst="rect">
            <a:avLst/>
          </a:prstGeom>
          <a:noFill/>
          <a:ln/>
        </p:spPr>
        <p:txBody>
          <a:bodyPr wrap="square" lIns="0" tIns="0" rIns="0" bIns="0" rtlCol="0" anchor="ctr"/>
          <a:lstStyle/>
          <a:p>
            <a:pPr indent="0" marL="0">
              <a:buNone/>
            </a:pPr>
            <a:r>
              <a:rPr lang="en-US" sz="900" b="1" dirty="0">
                <a:solidFill>
                  <a:schemeClr val="accent6"/>
                </a:solidFill>
              </a:rPr>
              <a:t>NEXR · OvGU Magdeburg × 3DBear</a:t>
            </a:r>
            <a:endParaRPr lang="en-US" sz="900" dirty="0"/>
          </a:p>
        </p:txBody>
      </p:sp>
      <p:sp>
        <p:nvSpPr>
          <p:cNvPr id="4" name="Text 1"/>
          <p:cNvSpPr/>
          <p:nvPr>
            <p:ph idx="102" type="body" hasCustomPrompt="1"/>
          </p:nvPr>
        </p:nvSpPr>
        <p:spPr>
          <a:xfrm>
            <a:off x="548640" y="384048"/>
            <a:ext cx="11094415" cy="292608"/>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5" name="Text 1"/>
          <p:cNvSpPr/>
          <p:nvPr>
            <p:ph idx="103" type="title" hasCustomPrompt="1"/>
          </p:nvPr>
        </p:nvSpPr>
        <p:spPr>
          <a:xfrm>
            <a:off x="548640" y="731520"/>
            <a:ext cx="11094415" cy="9601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6"/>
                </a:solidFill>
              </a:defRPr>
            </a:lvl1pPr>
          </a:lstStyle>
          <a:p>
            <a:pPr algn="r"/>
            <a:fld id="{F7021451-1387-4CA6-816F-3879F97B5CBC}" type="slidenum">
              <a:rPr b="1"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hyperlink" Target="https://s360.simuna.io/nexr/nursing-home/index.html" TargetMode="External"/><Relationship Id="rId1" Type="http://schemas.openxmlformats.org/officeDocument/2006/relationships/image" Target="../media/image-7-1.jpg"/><Relationship Id="rId2" Type="http://schemas.openxmlformats.org/officeDocument/2006/relationships/image" Target="../media/image-7-2.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s360.simuna.io/nexr/nursing-home/index.html" TargetMode="External"/><Relationship Id="rId3" Type="http://schemas.openxmlformats.org/officeDocument/2006/relationships/hyperlink" Target="https://s360.simuna.io/nexr/nursing-home/index.html" TargetMode="External"/><Relationship Id="rId4" Type="http://schemas.openxmlformats.org/officeDocument/2006/relationships/hyperlink" Target="https://s360.simuna.io/nexr/nursing-home/index.html" TargetMode="External"/><Relationship Id="rId1" Type="http://schemas.openxmlformats.org/officeDocument/2006/relationships/image" Target="../media/image-9-1.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s360.simuna.io/nexr/nursing-home/index.html" TargetMode="External"/><Relationship Id="rId2" Type="http://schemas.openxmlformats.org/officeDocument/2006/relationships/hyperlink" Target="https://media-3dbear.hel1.your-objectstorage.com/simuna-360/nexr-demo/akuutti-kotihoito/index.html#lang=en" TargetMode="External"/><Relationship Id="rId3" Type="http://schemas.openxmlformats.org/officeDocument/2006/relationships/hyperlink" Target="https://media-3dbear.hel1.your-objectstorage.com/simuna-360/nexr-demo/oppimateriaali/index.html" TargetMode="External"/><Relationship Id="rId4" Type="http://schemas.openxmlformats.org/officeDocument/2006/relationships/hyperlink" Target="https://media-3dbear.hel1.your-objectstorage.com/simuna-360/nexr-demo/dosetti/index.html#lang=en" TargetMode="External"/><Relationship Id="rId5" Type="http://schemas.openxmlformats.org/officeDocument/2006/relationships/hyperlink" Target="https://media-3dbear.hel1.your-objectstorage.com/simuna-360/nexr-demo/tikku-ukko/index.html" TargetMode="External"/><Relationship Id="rId6" Type="http://schemas.openxmlformats.org/officeDocument/2006/relationships/hyperlink" Target="https://keskustelut.simuna.io/scenarios/mipa/03-motivoiva-haastattelu-mikko" TargetMode="External"/><Relationship Id="rId7" Type="http://schemas.openxmlformats.org/officeDocument/2006/relationships/hyperlink" Target="mailto:jussi@3dbear.fi" TargetMode="External"/><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mailto:jussi@3dbear.fi" TargetMode="External"/><Relationship Id="rId2" Type="http://schemas.openxmlformats.org/officeDocument/2006/relationships/image" Target="../media/image-15-1.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AI FOR HEALTHCARE · TBILISI, GEORGIA · OCTOBER 2026</a:t>
            </a:r>
            <a:endParaRPr lang="en-US" sz="1200" dirty="0"/>
          </a:p>
        </p:txBody>
      </p:sp>
      <p:sp>
        <p:nvSpPr>
          <p:cNvPr id="3" name="Text 0"/>
          <p:cNvSpPr/>
          <p:nvPr>
            <p:ph idx="101" type="title" hasCustomPrompt="1"/>
          </p:nvPr>
        </p:nvSpPr>
        <p:spPr>
          <a:xfrm>
            <a:off x="548640" y="1554480"/>
            <a:ext cx="11094415" cy="960120"/>
          </a:xfrm>
          <a:prstGeom prst="rect">
            <a:avLst/>
          </a:prstGeom>
          <a:noFill/>
          <a:ln/>
        </p:spPr>
        <p:txBody>
          <a:bodyPr wrap="square" lIns="0" tIns="0" rIns="0" bIns="0" rtlCol="0" anchor="ctr"/>
          <a:lstStyle/>
          <a:p>
            <a:pPr algn="l" indent="0" marL="0">
              <a:buNone/>
            </a:pPr>
            <a:r>
              <a:rPr lang="en-US" sz="5400" b="1" dirty="0">
                <a:solidFill>
                  <a:schemeClr val="bg1"/>
                </a:solidFill>
              </a:rPr>
              <a:t>From Prompt to Practice</a:t>
            </a:r>
            <a:endParaRPr lang="en-US" sz="5400" dirty="0"/>
          </a:p>
        </p:txBody>
      </p:sp>
      <p:sp>
        <p:nvSpPr>
          <p:cNvPr id="4" name="Text 0"/>
          <p:cNvSpPr/>
          <p:nvPr>
            <p:ph idx="102" type="body" hasCustomPrompt="1"/>
          </p:nvPr>
        </p:nvSpPr>
        <p:spPr>
          <a:xfrm>
            <a:off x="548640" y="2606040"/>
            <a:ext cx="11094415" cy="502920"/>
          </a:xfrm>
          <a:prstGeom prst="rect">
            <a:avLst/>
          </a:prstGeom>
          <a:noFill/>
          <a:ln/>
        </p:spPr>
        <p:txBody>
          <a:bodyPr wrap="square" lIns="0" tIns="0" rIns="0" bIns="0" rtlCol="0" anchor="ctr"/>
          <a:lstStyle/>
          <a:p>
            <a:pPr indent="0" marL="0">
              <a:buNone/>
            </a:pPr>
            <a:r>
              <a:rPr lang="en-US" sz="2200" b="1" dirty="0">
                <a:solidFill>
                  <a:schemeClr val="bg1"/>
                </a:solidFill>
              </a:rPr>
              <a:t>AI-Assisted Creation of Immersive Learning Environments for Nursing Education</a:t>
            </a:r>
            <a:endParaRPr lang="en-US" sz="2200" dirty="0"/>
          </a:p>
        </p:txBody>
      </p:sp>
      <p:sp>
        <p:nvSpPr>
          <p:cNvPr id="5" name="Presenter"/>
          <p:cNvSpPr txBox="1"/>
          <p:nvPr/>
        </p:nvSpPr>
        <p:spPr>
          <a:xfrm>
            <a:off x="548640" y="3246120"/>
            <a:ext cx="11094415" cy="685800"/>
          </a:xfrm>
          <a:prstGeom prst="rect">
            <a:avLst/>
          </a:prstGeom>
          <a:noFill/>
          <a:ln/>
        </p:spPr>
        <p:txBody>
          <a:bodyPr wrap="square" lIns="0" tIns="0" rIns="0" bIns="0" rtlCol="0" anchor="t"/>
          <a:lstStyle/>
          <a:p>
            <a:pPr indent="0" marL="0">
              <a:buNone/>
            </a:pPr>
            <a:r>
              <a:rPr lang="en-US" sz="1700" b="1" dirty="0">
                <a:solidFill>
                  <a:schemeClr val="bg1"/>
                </a:solidFill>
              </a:rPr>
              <a:t>Hannes Tegelbeckers, PhD</a:t>
            </a:r>
            <a:pPr indent="0" marL="0">
              <a:buNone/>
            </a:pPr>
            <a:r>
              <a:rPr lang="en-US" sz="1700" dirty="0">
                <a:solidFill>
                  <a:schemeClr val="accent6"/>
                </a:solidFill>
              </a:rPr>
              <a:t>, Otto von Guericke University Magdeburg</a:t>
            </a:r>
            <a:endParaRPr lang="en-US" sz="1700" dirty="0"/>
          </a:p>
          <a:p>
            <a:pPr indent="0" marL="0">
              <a:buNone/>
            </a:pPr>
            <a:r>
              <a:rPr lang="en-US" sz="1700" dirty="0">
                <a:solidFill>
                  <a:schemeClr val="accent6"/>
                </a:solidFill>
              </a:rPr>
              <a:t>with 3DBear, Finland</a:t>
            </a:r>
            <a:endParaRPr lang="en-US" sz="1700" dirty="0"/>
          </a:p>
        </p:txBody>
      </p:sp>
      <p:pic>
        <p:nvPicPr>
          <p:cNvPr id="6" name="EU emblem" descr="Co-funded by the European Union">    </p:cNvPr>
          <p:cNvPicPr>
            <a:picLocks noChangeAspect="1"/>
          </p:cNvPicPr>
          <p:nvPr/>
        </p:nvPicPr>
        <p:blipFill>
          <a:blip r:embed="rId1"/>
          <a:stretch>
            <a:fillRect/>
          </a:stretch>
        </p:blipFill>
        <p:spPr>
          <a:xfrm>
            <a:off x="548640" y="4251960"/>
            <a:ext cx="2947916" cy="658368"/>
          </a:xfrm>
          <a:prstGeom prst="rect">
            <a:avLst/>
          </a:prstGeom>
        </p:spPr>
      </p:pic>
      <p:sp>
        <p:nvSpPr>
          <p:cNvPr id="7" name="Separator 1"/>
          <p:cNvSpPr/>
          <p:nvPr/>
        </p:nvSpPr>
        <p:spPr>
          <a:xfrm>
            <a:off x="3770876" y="4206240"/>
            <a:ext cx="0" cy="749808"/>
          </a:xfrm>
          <a:prstGeom prst="line">
            <a:avLst/>
          </a:prstGeom>
          <a:noFill/>
          <a:ln w="9525">
            <a:solidFill>
              <a:srgbClr val="FFFFFF">
                <a:alpha val="25000"/>
              </a:srgbClr>
            </a:solidFill>
            <a:prstDash val="solid"/>
          </a:ln>
        </p:spPr>
      </p:sp>
      <p:pic>
        <p:nvPicPr>
          <p:cNvPr id="8" name="OVGU logo" descr="Otto von Guericke University Magdeburg">    </p:cNvPr>
          <p:cNvPicPr>
            <a:picLocks noChangeAspect="1"/>
          </p:cNvPicPr>
          <p:nvPr/>
        </p:nvPicPr>
        <p:blipFill>
          <a:blip r:embed="rId2"/>
          <a:stretch>
            <a:fillRect/>
          </a:stretch>
        </p:blipFill>
        <p:spPr>
          <a:xfrm>
            <a:off x="4045196" y="4215384"/>
            <a:ext cx="2168300" cy="731520"/>
          </a:xfrm>
          <a:prstGeom prst="rect">
            <a:avLst/>
          </a:prstGeom>
        </p:spPr>
      </p:pic>
      <p:sp>
        <p:nvSpPr>
          <p:cNvPr id="9" name="Separator 2"/>
          <p:cNvSpPr/>
          <p:nvPr/>
        </p:nvSpPr>
        <p:spPr>
          <a:xfrm>
            <a:off x="6487817" y="4206240"/>
            <a:ext cx="0" cy="749808"/>
          </a:xfrm>
          <a:prstGeom prst="line">
            <a:avLst/>
          </a:prstGeom>
          <a:noFill/>
          <a:ln w="9525">
            <a:solidFill>
              <a:srgbClr val="FFFFFF">
                <a:alpha val="25000"/>
              </a:srgbClr>
            </a:solidFill>
            <a:prstDash val="solid"/>
          </a:ln>
        </p:spPr>
      </p:sp>
      <p:sp>
        <p:nvSpPr>
          <p:cNvPr id="10" name="NEXR tile"/>
          <p:cNvSpPr/>
          <p:nvPr/>
        </p:nvSpPr>
        <p:spPr>
          <a:xfrm>
            <a:off x="6762137" y="4215384"/>
            <a:ext cx="731520" cy="731520"/>
          </a:xfrm>
          <a:prstGeom prst="roundRect">
            <a:avLst>
              <a:gd name="adj" fmla="val 12500"/>
            </a:avLst>
          </a:prstGeom>
          <a:solidFill>
            <a:srgbClr val="FFFFFF"/>
          </a:solidFill>
          <a:ln/>
        </p:spPr>
      </p:sp>
      <p:pic>
        <p:nvPicPr>
          <p:cNvPr id="11" name="NEXR logo" descr="NEXR project logo">    </p:cNvPr>
          <p:cNvPicPr>
            <a:picLocks noChangeAspect="1"/>
          </p:cNvPicPr>
          <p:nvPr/>
        </p:nvPicPr>
        <p:blipFill>
          <a:blip r:embed="rId3"/>
          <a:stretch>
            <a:fillRect/>
          </a:stretch>
        </p:blipFill>
        <p:spPr>
          <a:xfrm>
            <a:off x="6807857" y="4261104"/>
            <a:ext cx="640080" cy="640080"/>
          </a:xfrm>
          <a:prstGeom prst="rect">
            <a:avLst/>
          </a:prstGeom>
        </p:spPr>
      </p:pic>
      <p:sp>
        <p:nvSpPr>
          <p:cNvPr id="12" name="NEXR label"/>
          <p:cNvSpPr txBox="1"/>
          <p:nvPr/>
        </p:nvSpPr>
        <p:spPr>
          <a:xfrm>
            <a:off x="7676537" y="4251960"/>
            <a:ext cx="3108960" cy="658368"/>
          </a:xfrm>
          <a:prstGeom prst="rect">
            <a:avLst/>
          </a:prstGeom>
          <a:noFill/>
          <a:ln/>
        </p:spPr>
        <p:txBody>
          <a:bodyPr wrap="square" lIns="0" tIns="0" rIns="0" bIns="0" rtlCol="0" anchor="ctr"/>
          <a:lstStyle/>
          <a:p>
            <a:pPr indent="0" marL="0">
              <a:buNone/>
            </a:pPr>
            <a:r>
              <a:rPr lang="en-US" sz="1200" dirty="0">
                <a:solidFill>
                  <a:schemeClr val="accent6"/>
                </a:solidFill>
              </a:rPr>
              <a:t>Erasmus+ project NEXR</a:t>
            </a:r>
            <a:endParaRPr lang="en-US" sz="1200" dirty="0"/>
          </a:p>
          <a:p>
            <a:pPr indent="0" marL="0">
              <a:buNone/>
            </a:pPr>
            <a:r>
              <a:rPr lang="en-US" sz="1200" dirty="0">
                <a:solidFill>
                  <a:schemeClr val="accent6"/>
                </a:solidFill>
              </a:rPr>
              <a:t>Nursing Education with Extended Reality</a:t>
            </a:r>
            <a:endParaRPr lang="en-US" sz="1200" dirty="0"/>
          </a:p>
        </p:txBody>
      </p:sp>
      <p:sp>
        <p:nvSpPr>
          <p:cNvPr id="13" name="Funding statement"/>
          <p:cNvSpPr txBox="1"/>
          <p:nvPr/>
        </p:nvSpPr>
        <p:spPr>
          <a:xfrm>
            <a:off x="548640" y="5257800"/>
            <a:ext cx="9601200" cy="548640"/>
          </a:xfrm>
          <a:prstGeom prst="rect">
            <a:avLst/>
          </a:prstGeom>
          <a:noFill/>
          <a:ln/>
        </p:spPr>
        <p:txBody>
          <a:bodyPr wrap="square" lIns="0" tIns="0" rIns="0" bIns="0" rtlCol="0" anchor="t"/>
          <a:lstStyle/>
          <a:p>
            <a:pPr indent="0" marL="0">
              <a:buNone/>
            </a:pPr>
            <a:r>
              <a:rPr lang="en-US" sz="1000" dirty="0">
                <a:solidFill>
                  <a:schemeClr val="accent6"/>
                </a:solidFill>
              </a:rPr>
              <a:t>NEXR (2025-1-DE02-KA220-VET-000355712) is co-funded by the Erasmus+ Programme of the European Union. Views and opinions expressed are those of the author(s) only and do not necessarily reflect those of the European Union or EACEA. Neither the European Union nor EACEA can be held responsible for them.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2"/>
                </a:solidFill>
              </a:rPr>
              <a:t>1 · THE PROBLEM</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The situations that matter most are the hardest to practise</a:t>
            </a:r>
            <a:endParaRPr lang="en-US" sz="3000" dirty="0"/>
          </a:p>
        </p:txBody>
      </p:sp>
      <p:sp>
        <p:nvSpPr>
          <p:cNvPr id="5" name="Lead 1"/>
          <p:cNvSpPr txBox="1"/>
          <p:nvPr/>
        </p:nvSpPr>
        <p:spPr>
          <a:xfrm>
            <a:off x="548640" y="1463040"/>
            <a:ext cx="10428750" cy="777240"/>
          </a:xfrm>
          <a:prstGeom prst="rect">
            <a:avLst/>
          </a:prstGeom>
          <a:noFill/>
          <a:ln/>
        </p:spPr>
        <p:txBody>
          <a:bodyPr wrap="square" lIns="0" tIns="0" rIns="0" bIns="0" rtlCol="0" anchor="t"/>
          <a:lstStyle/>
          <a:p>
            <a:pPr indent="0" marL="0">
              <a:buNone/>
            </a:pPr>
            <a:r>
              <a:rPr lang="en-US" sz="1600" dirty="0">
                <a:solidFill>
                  <a:schemeClr val="accent5"/>
                </a:solidFill>
              </a:rPr>
              <a:t>A client has a stroke during a routine home visit. Nurses must act correctly the first time, yet students rarely meet such situations during training, and they cannot practise them safely on real people.</a:t>
            </a:r>
            <a:endParaRPr lang="en-US" sz="1600" dirty="0"/>
          </a:p>
        </p:txBody>
      </p:sp>
      <p:sp>
        <p:nvSpPr>
          <p:cNvPr id="6" name="Card 2"/>
          <p:cNvSpPr/>
          <p:nvPr/>
        </p:nvSpPr>
        <p:spPr>
          <a:xfrm>
            <a:off x="548640" y="2423160"/>
            <a:ext cx="3545738" cy="1783080"/>
          </a:xfrm>
          <a:prstGeom prst="roundRect">
            <a:avLst>
              <a:gd name="adj" fmla="val 7179"/>
            </a:avLst>
          </a:prstGeom>
          <a:solidFill>
            <a:srgbClr val="FFFFFF"/>
          </a:solidFill>
          <a:ln w="9525">
            <a:solidFill>
              <a:srgbClr val="E4DED9"/>
            </a:solidFill>
            <a:prstDash val="solid"/>
          </a:ln>
        </p:spPr>
      </p:sp>
      <p:sp>
        <p:nvSpPr>
          <p:cNvPr id="7" name="Card title 3"/>
          <p:cNvSpPr txBox="1"/>
          <p:nvPr/>
        </p:nvSpPr>
        <p:spPr>
          <a:xfrm>
            <a:off x="731520" y="2606040"/>
            <a:ext cx="3179978" cy="310896"/>
          </a:xfrm>
          <a:prstGeom prst="rect">
            <a:avLst/>
          </a:prstGeom>
          <a:noFill/>
          <a:ln/>
        </p:spPr>
        <p:txBody>
          <a:bodyPr wrap="square" lIns="0" tIns="0" rIns="0" bIns="0" rtlCol="0" anchor="t"/>
          <a:lstStyle/>
          <a:p>
            <a:pPr indent="0" marL="0">
              <a:buNone/>
            </a:pPr>
            <a:r>
              <a:rPr lang="en-US" sz="1500" b="1" dirty="0">
                <a:solidFill>
                  <a:schemeClr val="tx1"/>
                </a:solidFill>
              </a:rPr>
              <a:t>Rare in placements</a:t>
            </a:r>
            <a:endParaRPr lang="en-US" sz="1500" dirty="0"/>
          </a:p>
        </p:txBody>
      </p:sp>
      <p:sp>
        <p:nvSpPr>
          <p:cNvPr id="8" name="Card text 4"/>
          <p:cNvSpPr txBox="1"/>
          <p:nvPr/>
        </p:nvSpPr>
        <p:spPr>
          <a:xfrm>
            <a:off x="731520" y="2990088"/>
            <a:ext cx="3179978" cy="103327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High-risk, low-frequency situations do not happen on demand.</a:t>
            </a:r>
            <a:endParaRPr lang="en-US" sz="1300" dirty="0"/>
          </a:p>
        </p:txBody>
      </p:sp>
      <p:sp>
        <p:nvSpPr>
          <p:cNvPr id="9" name="Card 5"/>
          <p:cNvSpPr/>
          <p:nvPr/>
        </p:nvSpPr>
        <p:spPr>
          <a:xfrm>
            <a:off x="4322978" y="2423160"/>
            <a:ext cx="3545738" cy="1783080"/>
          </a:xfrm>
          <a:prstGeom prst="roundRect">
            <a:avLst>
              <a:gd name="adj" fmla="val 7179"/>
            </a:avLst>
          </a:prstGeom>
          <a:solidFill>
            <a:srgbClr val="FFFFFF"/>
          </a:solidFill>
          <a:ln w="9525">
            <a:solidFill>
              <a:srgbClr val="E4DED9"/>
            </a:solidFill>
            <a:prstDash val="solid"/>
          </a:ln>
        </p:spPr>
      </p:sp>
      <p:sp>
        <p:nvSpPr>
          <p:cNvPr id="10" name="Card title 6"/>
          <p:cNvSpPr txBox="1"/>
          <p:nvPr/>
        </p:nvSpPr>
        <p:spPr>
          <a:xfrm>
            <a:off x="4505858" y="2606040"/>
            <a:ext cx="3179978" cy="310896"/>
          </a:xfrm>
          <a:prstGeom prst="rect">
            <a:avLst/>
          </a:prstGeom>
          <a:noFill/>
          <a:ln/>
        </p:spPr>
        <p:txBody>
          <a:bodyPr wrap="square" lIns="0" tIns="0" rIns="0" bIns="0" rtlCol="0" anchor="t"/>
          <a:lstStyle/>
          <a:p>
            <a:pPr indent="0" marL="0">
              <a:buNone/>
            </a:pPr>
            <a:r>
              <a:rPr lang="en-US" sz="1500" b="1" dirty="0">
                <a:solidFill>
                  <a:schemeClr val="tx1"/>
                </a:solidFill>
              </a:rPr>
              <a:t>Not safe to rehearse</a:t>
            </a:r>
            <a:endParaRPr lang="en-US" sz="1500" dirty="0"/>
          </a:p>
        </p:txBody>
      </p:sp>
      <p:sp>
        <p:nvSpPr>
          <p:cNvPr id="11" name="Card text 7"/>
          <p:cNvSpPr txBox="1"/>
          <p:nvPr/>
        </p:nvSpPr>
        <p:spPr>
          <a:xfrm>
            <a:off x="4505858" y="2990088"/>
            <a:ext cx="3179978" cy="103327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Learning from a wrong decision is valuable, but not with a real patient. Simulation gives room to make the mistake and see its consequence.</a:t>
            </a:r>
            <a:endParaRPr lang="en-US" sz="1300" dirty="0"/>
          </a:p>
        </p:txBody>
      </p:sp>
      <p:sp>
        <p:nvSpPr>
          <p:cNvPr id="12" name="Card 8"/>
          <p:cNvSpPr/>
          <p:nvPr/>
        </p:nvSpPr>
        <p:spPr>
          <a:xfrm>
            <a:off x="8097317" y="2423160"/>
            <a:ext cx="3545738" cy="1783080"/>
          </a:xfrm>
          <a:prstGeom prst="roundRect">
            <a:avLst>
              <a:gd name="adj" fmla="val 7179"/>
            </a:avLst>
          </a:prstGeom>
          <a:solidFill>
            <a:srgbClr val="FFFFFF"/>
          </a:solidFill>
          <a:ln w="9525">
            <a:solidFill>
              <a:srgbClr val="E4DED9"/>
            </a:solidFill>
            <a:prstDash val="solid"/>
          </a:ln>
        </p:spPr>
      </p:sp>
      <p:sp>
        <p:nvSpPr>
          <p:cNvPr id="13" name="Card title 9"/>
          <p:cNvSpPr txBox="1"/>
          <p:nvPr/>
        </p:nvSpPr>
        <p:spPr>
          <a:xfrm>
            <a:off x="8280197" y="2606040"/>
            <a:ext cx="3179978" cy="310896"/>
          </a:xfrm>
          <a:prstGeom prst="rect">
            <a:avLst/>
          </a:prstGeom>
          <a:noFill/>
          <a:ln/>
        </p:spPr>
        <p:txBody>
          <a:bodyPr wrap="square" lIns="0" tIns="0" rIns="0" bIns="0" rtlCol="0" anchor="t"/>
          <a:lstStyle/>
          <a:p>
            <a:pPr indent="0" marL="0">
              <a:buNone/>
            </a:pPr>
            <a:r>
              <a:rPr lang="en-US" sz="1500" b="1" dirty="0">
                <a:solidFill>
                  <a:schemeClr val="tx1"/>
                </a:solidFill>
              </a:rPr>
              <a:t>XR has been costly to make</a:t>
            </a:r>
            <a:endParaRPr lang="en-US" sz="1500" dirty="0"/>
          </a:p>
        </p:txBody>
      </p:sp>
      <p:sp>
        <p:nvSpPr>
          <p:cNvPr id="14" name="Card text 10"/>
          <p:cNvSpPr txBox="1"/>
          <p:nvPr/>
        </p:nvSpPr>
        <p:spPr>
          <a:xfrm>
            <a:off x="8280197" y="2990088"/>
            <a:ext cx="3179978" cy="103327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A 360° scenario has usually meant filming, actors, a script and a developer. So teachers rarely create one themselves, and content lags behind the curriculum.</a:t>
            </a:r>
            <a:endParaRPr lang="en-US" sz="1300" dirty="0"/>
          </a:p>
        </p:txBody>
      </p:sp>
      <p:sp>
        <p:nvSpPr>
          <p:cNvPr id="15" name="Quote mark 11"/>
          <p:cNvSpPr txBox="1"/>
          <p:nvPr/>
        </p:nvSpPr>
        <p:spPr>
          <a:xfrm>
            <a:off x="548640" y="4462272"/>
            <a:ext cx="457200" cy="640080"/>
          </a:xfrm>
          <a:prstGeom prst="rect">
            <a:avLst/>
          </a:prstGeom>
          <a:noFill/>
          <a:ln/>
        </p:spPr>
        <p:txBody>
          <a:bodyPr wrap="square" lIns="0" tIns="0" rIns="0" bIns="0" rtlCol="0" anchor="t"/>
          <a:lstStyle/>
          <a:p>
            <a:pPr indent="0" marL="0">
              <a:buNone/>
            </a:pPr>
            <a:r>
              <a:rPr lang="en-US" sz="4800" b="1" dirty="0">
                <a:solidFill>
                  <a:schemeClr val="accent1"/>
                </a:solidFill>
              </a:rPr>
              <a:t>“</a:t>
            </a:r>
            <a:endParaRPr lang="en-US" sz="4800" dirty="0"/>
          </a:p>
        </p:txBody>
      </p:sp>
      <p:sp>
        <p:nvSpPr>
          <p:cNvPr id="16" name="Quote 12"/>
          <p:cNvSpPr txBox="1"/>
          <p:nvPr/>
        </p:nvSpPr>
        <p:spPr>
          <a:xfrm>
            <a:off x="1051560" y="4572000"/>
            <a:ext cx="9722815" cy="731520"/>
          </a:xfrm>
          <a:prstGeom prst="rect">
            <a:avLst/>
          </a:prstGeom>
          <a:noFill/>
          <a:ln/>
        </p:spPr>
        <p:txBody>
          <a:bodyPr wrap="square" lIns="0" tIns="0" rIns="0" bIns="0" rtlCol="0" anchor="t"/>
          <a:lstStyle/>
          <a:p>
            <a:pPr indent="0" marL="0">
              <a:spcAft>
                <a:spcPts val="400"/>
              </a:spcAft>
              <a:buNone/>
            </a:pPr>
            <a:r>
              <a:rPr lang="en-US" sz="1500" i="1" dirty="0">
                <a:solidFill>
                  <a:schemeClr val="tx1"/>
                </a:solidFill>
              </a:rPr>
              <a:t>"Prioritise LOs involving high-risk, low-frequency, or complex clinical situations."</a:t>
            </a:r>
            <a:endParaRPr lang="en-US" sz="1500" dirty="0"/>
          </a:p>
          <a:p>
            <a:pPr indent="0" marL="0">
              <a:spcAft>
                <a:spcPts val="400"/>
              </a:spcAft>
              <a:buNone/>
            </a:pPr>
            <a:r>
              <a:rPr lang="en-US" sz="1100" b="1" dirty="0">
                <a:solidFill>
                  <a:srgbClr val="7D8C8F"/>
                </a:solidFill>
              </a:rPr>
              <a:t>Guideline for partners, NEXR curriculum analysis (WP2, T2.1)</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1"/>
                </a:solidFill>
              </a:rPr>
              <a:t>2 · THE PROJECT</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bg1"/>
                </a:solidFill>
              </a:rPr>
              <a:t>NEXR: Nursing Education with Extended Reality</a:t>
            </a:r>
            <a:endParaRPr lang="en-US" sz="3000" dirty="0"/>
          </a:p>
        </p:txBody>
      </p:sp>
      <p:sp>
        <p:nvSpPr>
          <p:cNvPr id="5" name="Lead 13"/>
          <p:cNvSpPr txBox="1"/>
          <p:nvPr/>
        </p:nvSpPr>
        <p:spPr>
          <a:xfrm>
            <a:off x="548640" y="1463040"/>
            <a:ext cx="10428750" cy="777240"/>
          </a:xfrm>
          <a:prstGeom prst="rect">
            <a:avLst/>
          </a:prstGeom>
          <a:noFill/>
          <a:ln/>
        </p:spPr>
        <p:txBody>
          <a:bodyPr wrap="square" lIns="0" tIns="0" rIns="0" bIns="0" rtlCol="0" anchor="t"/>
          <a:lstStyle/>
          <a:p>
            <a:pPr indent="0" marL="0">
              <a:buNone/>
            </a:pPr>
            <a:r>
              <a:rPr lang="en-US" sz="1600" dirty="0">
                <a:solidFill>
                  <a:schemeClr val="accent6"/>
                </a:solidFill>
              </a:rPr>
              <a:t>Erasmus+ cooperation partnership in vocational education (KA220-VET), December 2025 to November 2028, coordinated by Otto von Guericke University Magdeburg.</a:t>
            </a:r>
            <a:endParaRPr lang="en-US" sz="1600" dirty="0"/>
          </a:p>
        </p:txBody>
      </p:sp>
      <p:sp>
        <p:nvSpPr>
          <p:cNvPr id="6" name="Card 14"/>
          <p:cNvSpPr/>
          <p:nvPr/>
        </p:nvSpPr>
        <p:spPr>
          <a:xfrm>
            <a:off x="548640" y="2423160"/>
            <a:ext cx="5432908" cy="2834640"/>
          </a:xfrm>
          <a:prstGeom prst="roundRect">
            <a:avLst>
              <a:gd name="adj" fmla="val 4516"/>
            </a:avLst>
          </a:prstGeom>
          <a:solidFill>
            <a:srgbClr val="FFFFFF">
              <a:alpha val="6000"/>
            </a:srgbClr>
          </a:solidFill>
          <a:ln w="9525">
            <a:solidFill>
              <a:srgbClr val="FFFFFF">
                <a:alpha val="18000"/>
              </a:srgbClr>
            </a:solidFill>
            <a:prstDash val="solid"/>
          </a:ln>
        </p:spPr>
      </p:sp>
      <p:sp>
        <p:nvSpPr>
          <p:cNvPr id="7" name="Card title 15"/>
          <p:cNvSpPr txBox="1"/>
          <p:nvPr/>
        </p:nvSpPr>
        <p:spPr>
          <a:xfrm>
            <a:off x="731520" y="2606040"/>
            <a:ext cx="5067148" cy="310896"/>
          </a:xfrm>
          <a:prstGeom prst="rect">
            <a:avLst/>
          </a:prstGeom>
          <a:noFill/>
          <a:ln/>
        </p:spPr>
        <p:txBody>
          <a:bodyPr wrap="square" lIns="0" tIns="0" rIns="0" bIns="0" rtlCol="0" anchor="t"/>
          <a:lstStyle/>
          <a:p>
            <a:pPr indent="0" marL="0">
              <a:buNone/>
            </a:pPr>
            <a:r>
              <a:rPr lang="en-US" sz="1500" b="1" dirty="0">
                <a:solidFill>
                  <a:schemeClr val="bg1"/>
                </a:solidFill>
              </a:rPr>
              <a:t>Six partners, five countries</a:t>
            </a:r>
            <a:endParaRPr lang="en-US" sz="1500" dirty="0"/>
          </a:p>
        </p:txBody>
      </p:sp>
      <p:sp>
        <p:nvSpPr>
          <p:cNvPr id="8" name="Card bullets 16"/>
          <p:cNvSpPr txBox="1"/>
          <p:nvPr/>
        </p:nvSpPr>
        <p:spPr>
          <a:xfrm>
            <a:off x="731520" y="2990088"/>
            <a:ext cx="5067148" cy="2084832"/>
          </a:xfrm>
          <a:prstGeom prst="rect">
            <a:avLst/>
          </a:prstGeom>
          <a:noFill/>
          <a:ln/>
        </p:spPr>
        <p:txBody>
          <a:bodyPr wrap="square" lIns="0" tIns="0" rIns="0" bIns="0" rtlCol="0" anchor="t"/>
          <a:lstStyle/>
          <a:p>
            <a:pPr marL="165100" indent="-165100">
              <a:spcAft>
                <a:spcPts val="500"/>
              </a:spcAft>
              <a:buSzPct val="100000"/>
              <a:buChar char="●"/>
            </a:pPr>
            <a:r>
              <a:rPr lang="en-US" sz="1300" b="1" dirty="0">
                <a:solidFill>
                  <a:schemeClr val="bg1"/>
                </a:solidFill>
              </a:rPr>
              <a:t>OvGU Magdeburg</a:t>
            </a:r>
            <a:pPr indent="0" marL="0">
              <a:buNone/>
            </a:pPr>
            <a:r>
              <a:rPr lang="en-US" sz="1300" dirty="0">
                <a:solidFill>
                  <a:schemeClr val="accent6"/>
                </a:solidFill>
              </a:rPr>
              <a:t>, Germany (coordinator)</a:t>
            </a:r>
            <a:endParaRPr lang="en-US" sz="1300" dirty="0"/>
          </a:p>
          <a:p>
            <a:pPr marL="165100" indent="-165100">
              <a:spcAft>
                <a:spcPts val="500"/>
              </a:spcAft>
              <a:buSzPct val="100000"/>
              <a:buChar char="●"/>
            </a:pPr>
            <a:r>
              <a:rPr lang="en-US" sz="1300" b="1" dirty="0">
                <a:solidFill>
                  <a:schemeClr val="bg1"/>
                </a:solidFill>
              </a:rPr>
              <a:t>Skills Divers</a:t>
            </a:r>
            <a:pPr indent="0" marL="0">
              <a:buNone/>
            </a:pPr>
            <a:r>
              <a:rPr lang="en-US" sz="1300" dirty="0">
                <a:solidFill>
                  <a:schemeClr val="accent6"/>
                </a:solidFill>
              </a:rPr>
              <a:t>, Spain</a:t>
            </a:r>
            <a:endParaRPr lang="en-US" sz="1300" dirty="0"/>
          </a:p>
          <a:p>
            <a:pPr marL="165100" indent="-165100">
              <a:spcAft>
                <a:spcPts val="500"/>
              </a:spcAft>
              <a:buSzPct val="100000"/>
              <a:buChar char="●"/>
            </a:pPr>
            <a:r>
              <a:rPr lang="en-US" sz="1300" b="1" dirty="0">
                <a:solidFill>
                  <a:schemeClr val="bg1"/>
                </a:solidFill>
              </a:rPr>
              <a:t>3DBear</a:t>
            </a:r>
            <a:pPr indent="0" marL="0">
              <a:buNone/>
            </a:pPr>
            <a:r>
              <a:rPr lang="en-US" sz="1300" dirty="0">
                <a:solidFill>
                  <a:schemeClr val="accent6"/>
                </a:solidFill>
              </a:rPr>
              <a:t>, Finland</a:t>
            </a:r>
            <a:endParaRPr lang="en-US" sz="1300" dirty="0"/>
          </a:p>
          <a:p>
            <a:pPr marL="165100" indent="-165100">
              <a:spcAft>
                <a:spcPts val="500"/>
              </a:spcAft>
              <a:buSzPct val="100000"/>
              <a:buChar char="●"/>
            </a:pPr>
            <a:r>
              <a:rPr lang="en-US" sz="1300" b="1" dirty="0">
                <a:solidFill>
                  <a:schemeClr val="bg1"/>
                </a:solidFill>
              </a:rPr>
              <a:t>ESNO</a:t>
            </a:r>
            <a:pPr indent="0" marL="0">
              <a:buNone/>
            </a:pPr>
            <a:r>
              <a:rPr lang="en-US" sz="1300" dirty="0">
                <a:solidFill>
                  <a:schemeClr val="accent6"/>
                </a:solidFill>
              </a:rPr>
              <a:t>, European Specialist Nurses Organisations, Netherlands</a:t>
            </a:r>
            <a:endParaRPr lang="en-US" sz="1300" dirty="0"/>
          </a:p>
          <a:p>
            <a:pPr marL="165100" indent="-165100">
              <a:spcAft>
                <a:spcPts val="500"/>
              </a:spcAft>
              <a:buSzPct val="100000"/>
              <a:buChar char="●"/>
            </a:pPr>
            <a:r>
              <a:rPr lang="en-US" sz="1300" b="1" dirty="0">
                <a:solidFill>
                  <a:schemeClr val="bg1"/>
                </a:solidFill>
              </a:rPr>
              <a:t>IES Los Albares</a:t>
            </a:r>
            <a:pPr indent="0" marL="0">
              <a:buNone/>
            </a:pPr>
            <a:r>
              <a:rPr lang="en-US" sz="1300" dirty="0">
                <a:solidFill>
                  <a:schemeClr val="accent6"/>
                </a:solidFill>
              </a:rPr>
              <a:t>, Spain</a:t>
            </a:r>
            <a:endParaRPr lang="en-US" sz="1300" dirty="0"/>
          </a:p>
          <a:p>
            <a:pPr marL="165100" indent="-165100">
              <a:spcAft>
                <a:spcPts val="500"/>
              </a:spcAft>
              <a:buSzPct val="100000"/>
              <a:buChar char="●"/>
            </a:pPr>
            <a:r>
              <a:rPr lang="en-US" sz="1300" b="1" dirty="0">
                <a:solidFill>
                  <a:schemeClr val="bg1"/>
                </a:solidFill>
              </a:rPr>
              <a:t>FHG Tirol</a:t>
            </a:r>
            <a:pPr indent="0" marL="0">
              <a:buNone/>
            </a:pPr>
            <a:r>
              <a:rPr lang="en-US" sz="1300" dirty="0">
                <a:solidFill>
                  <a:schemeClr val="accent6"/>
                </a:solidFill>
              </a:rPr>
              <a:t>, Austria</a:t>
            </a:r>
            <a:endParaRPr lang="en-US" sz="1300" dirty="0"/>
          </a:p>
        </p:txBody>
      </p:sp>
      <p:sp>
        <p:nvSpPr>
          <p:cNvPr id="9" name="Card 17"/>
          <p:cNvSpPr/>
          <p:nvPr/>
        </p:nvSpPr>
        <p:spPr>
          <a:xfrm>
            <a:off x="6210148" y="2423160"/>
            <a:ext cx="5432908" cy="2834640"/>
          </a:xfrm>
          <a:prstGeom prst="roundRect">
            <a:avLst>
              <a:gd name="adj" fmla="val 4516"/>
            </a:avLst>
          </a:prstGeom>
          <a:solidFill>
            <a:srgbClr val="FFFFFF">
              <a:alpha val="6000"/>
            </a:srgbClr>
          </a:solidFill>
          <a:ln w="9525">
            <a:solidFill>
              <a:srgbClr val="FFFFFF">
                <a:alpha val="18000"/>
              </a:srgbClr>
            </a:solidFill>
            <a:prstDash val="solid"/>
          </a:ln>
        </p:spPr>
      </p:sp>
      <p:sp>
        <p:nvSpPr>
          <p:cNvPr id="10" name="Card title 18"/>
          <p:cNvSpPr txBox="1"/>
          <p:nvPr/>
        </p:nvSpPr>
        <p:spPr>
          <a:xfrm>
            <a:off x="6393028" y="2606040"/>
            <a:ext cx="5067148" cy="310896"/>
          </a:xfrm>
          <a:prstGeom prst="rect">
            <a:avLst/>
          </a:prstGeom>
          <a:noFill/>
          <a:ln/>
        </p:spPr>
        <p:txBody>
          <a:bodyPr wrap="square" lIns="0" tIns="0" rIns="0" bIns="0" rtlCol="0" anchor="t"/>
          <a:lstStyle/>
          <a:p>
            <a:pPr indent="0" marL="0">
              <a:buNone/>
            </a:pPr>
            <a:r>
              <a:rPr lang="en-US" sz="1500" b="1" dirty="0">
                <a:solidFill>
                  <a:schemeClr val="bg1"/>
                </a:solidFill>
              </a:rPr>
              <a:t>From curriculum to classroom</a:t>
            </a:r>
            <a:endParaRPr lang="en-US" sz="1500" dirty="0"/>
          </a:p>
        </p:txBody>
      </p:sp>
      <p:sp>
        <p:nvSpPr>
          <p:cNvPr id="11" name="Card bullets 19"/>
          <p:cNvSpPr txBox="1"/>
          <p:nvPr/>
        </p:nvSpPr>
        <p:spPr>
          <a:xfrm>
            <a:off x="6393028" y="2990088"/>
            <a:ext cx="5067148" cy="2084832"/>
          </a:xfrm>
          <a:prstGeom prst="rect">
            <a:avLst/>
          </a:prstGeom>
          <a:noFill/>
          <a:ln/>
        </p:spPr>
        <p:txBody>
          <a:bodyPr wrap="square" lIns="0" tIns="0" rIns="0" bIns="0" rtlCol="0" anchor="t"/>
          <a:lstStyle/>
          <a:p>
            <a:pPr marL="165100" indent="-165100">
              <a:spcAft>
                <a:spcPts val="500"/>
              </a:spcAft>
              <a:buSzPct val="100000"/>
              <a:buChar char="●"/>
            </a:pPr>
            <a:r>
              <a:rPr lang="en-US" sz="1300" b="1" dirty="0">
                <a:solidFill>
                  <a:schemeClr val="bg1"/>
                </a:solidFill>
              </a:rPr>
              <a:t>WP2</a:t>
            </a:r>
            <a:pPr indent="0" marL="0">
              <a:buNone/>
            </a:pPr>
            <a:r>
              <a:rPr lang="en-US" sz="1300" dirty="0">
                <a:solidFill>
                  <a:schemeClr val="accent6"/>
                </a:solidFill>
              </a:rPr>
              <a:t> Curriculum analysis: which learning outcomes benefit from XR</a:t>
            </a:r>
            <a:endParaRPr lang="en-US" sz="1300" dirty="0"/>
          </a:p>
          <a:p>
            <a:pPr marL="165100" indent="-165100">
              <a:spcAft>
                <a:spcPts val="500"/>
              </a:spcAft>
              <a:buSzPct val="100000"/>
              <a:buChar char="●"/>
            </a:pPr>
            <a:r>
              <a:rPr lang="en-US" sz="1300" b="1" dirty="0">
                <a:solidFill>
                  <a:schemeClr val="bg1"/>
                </a:solidFill>
              </a:rPr>
              <a:t>WP3</a:t>
            </a:r>
            <a:pPr indent="0" marL="0">
              <a:buNone/>
            </a:pPr>
            <a:r>
              <a:rPr lang="en-US" sz="1300" dirty="0">
                <a:solidFill>
                  <a:schemeClr val="accent6"/>
                </a:solidFill>
              </a:rPr>
              <a:t> Human-centred design method, 20 XR exercises defined</a:t>
            </a:r>
            <a:endParaRPr lang="en-US" sz="1300" dirty="0"/>
          </a:p>
          <a:p>
            <a:pPr marL="165100" indent="-165100">
              <a:spcAft>
                <a:spcPts val="500"/>
              </a:spcAft>
              <a:buSzPct val="100000"/>
              <a:buChar char="●"/>
            </a:pPr>
            <a:r>
              <a:rPr lang="en-US" sz="1300" b="1" dirty="0">
                <a:solidFill>
                  <a:schemeClr val="bg1"/>
                </a:solidFill>
              </a:rPr>
              <a:t>WP4</a:t>
            </a:r>
            <a:pPr indent="0" marL="0">
              <a:buNone/>
            </a:pPr>
            <a:r>
              <a:rPr lang="en-US" sz="1300" dirty="0">
                <a:solidFill>
                  <a:schemeClr val="accent6"/>
                </a:solidFill>
              </a:rPr>
              <a:t> XR Training Kit: 10 360° VR scenarios and 10 AI-based XR contents, plus an online course</a:t>
            </a:r>
            <a:endParaRPr lang="en-US" sz="1300" dirty="0"/>
          </a:p>
          <a:p>
            <a:pPr marL="165100" indent="-165100">
              <a:spcAft>
                <a:spcPts val="500"/>
              </a:spcAft>
              <a:buSzPct val="100000"/>
              <a:buChar char="●"/>
            </a:pPr>
            <a:r>
              <a:rPr lang="en-US" sz="1300" b="1" dirty="0">
                <a:solidFill>
                  <a:schemeClr val="bg1"/>
                </a:solidFill>
              </a:rPr>
              <a:t>Pilots</a:t>
            </a:r>
            <a:pPr indent="0" marL="0">
              <a:buNone/>
            </a:pPr>
            <a:r>
              <a:rPr lang="en-US" sz="1300" dirty="0">
                <a:solidFill>
                  <a:schemeClr val="accent6"/>
                </a:solidFill>
              </a:rPr>
              <a:t> with students and teachers in Austria and Spain</a:t>
            </a:r>
            <a:endParaRPr lang="en-US" sz="1300" dirty="0"/>
          </a:p>
          <a:p>
            <a:pPr marL="165100" indent="-165100">
              <a:spcAft>
                <a:spcPts val="500"/>
              </a:spcAft>
              <a:buSzPct val="100000"/>
              <a:buChar char="●"/>
            </a:pPr>
            <a:r>
              <a:rPr lang="en-US" sz="1300" b="1" dirty="0">
                <a:solidFill>
                  <a:schemeClr val="bg1"/>
                </a:solidFill>
              </a:rPr>
              <a:t>WP5</a:t>
            </a:r>
            <a:pPr indent="0" marL="0">
              <a:buNone/>
            </a:pPr>
            <a:r>
              <a:rPr lang="en-US" sz="1300" dirty="0">
                <a:solidFill>
                  <a:schemeClr val="accent6"/>
                </a:solidFill>
              </a:rPr>
              <a:t> Dissemination and policy recommendations</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6"/>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2"/>
                </a:solidFill>
              </a:rPr>
              <a:t>3 · THE SHIFT</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AI as a process, not a button</a:t>
            </a:r>
            <a:endParaRPr lang="en-US" sz="3000" dirty="0"/>
          </a:p>
        </p:txBody>
      </p:sp>
      <p:sp>
        <p:nvSpPr>
          <p:cNvPr id="5" name="Lead 20"/>
          <p:cNvSpPr txBox="1"/>
          <p:nvPr/>
        </p:nvSpPr>
        <p:spPr>
          <a:xfrm>
            <a:off x="548640" y="1463040"/>
            <a:ext cx="10428750" cy="777240"/>
          </a:xfrm>
          <a:prstGeom prst="rect">
            <a:avLst/>
          </a:prstGeom>
          <a:noFill/>
          <a:ln/>
        </p:spPr>
        <p:txBody>
          <a:bodyPr wrap="square" lIns="0" tIns="0" rIns="0" bIns="0" rtlCol="0" anchor="t"/>
          <a:lstStyle/>
          <a:p>
            <a:pPr indent="0" marL="0">
              <a:buNone/>
            </a:pPr>
            <a:r>
              <a:rPr lang="en-US" sz="1600" dirty="0">
                <a:solidFill>
                  <a:schemeClr val="accent5"/>
                </a:solidFill>
              </a:rPr>
              <a:t>A chat window returns text. A training scenario must be pedagogically sound, clinically correct, technically working and placed in the curriculum. That needs a process with checkpoints.</a:t>
            </a:r>
            <a:endParaRPr lang="en-US" sz="1600" dirty="0"/>
          </a:p>
        </p:txBody>
      </p:sp>
      <p:sp>
        <p:nvSpPr>
          <p:cNvPr id="6" name="Card 21"/>
          <p:cNvSpPr/>
          <p:nvPr/>
        </p:nvSpPr>
        <p:spPr>
          <a:xfrm>
            <a:off x="548640" y="2423160"/>
            <a:ext cx="5432908" cy="2926080"/>
          </a:xfrm>
          <a:prstGeom prst="roundRect">
            <a:avLst>
              <a:gd name="adj" fmla="val 4375"/>
            </a:avLst>
          </a:prstGeom>
          <a:solidFill>
            <a:srgbClr val="FFFFFF"/>
          </a:solidFill>
          <a:ln w="9525">
            <a:solidFill>
              <a:srgbClr val="E4DED9"/>
            </a:solidFill>
            <a:prstDash val="solid"/>
          </a:ln>
        </p:spPr>
      </p:sp>
      <p:sp>
        <p:nvSpPr>
          <p:cNvPr id="7" name="Card title 22"/>
          <p:cNvSpPr txBox="1"/>
          <p:nvPr/>
        </p:nvSpPr>
        <p:spPr>
          <a:xfrm>
            <a:off x="731520" y="2606040"/>
            <a:ext cx="5067148" cy="310896"/>
          </a:xfrm>
          <a:prstGeom prst="rect">
            <a:avLst/>
          </a:prstGeom>
          <a:noFill/>
          <a:ln/>
        </p:spPr>
        <p:txBody>
          <a:bodyPr wrap="square" lIns="0" tIns="0" rIns="0" bIns="0" rtlCol="0" anchor="t"/>
          <a:lstStyle/>
          <a:p>
            <a:pPr indent="0" marL="0">
              <a:buNone/>
            </a:pPr>
            <a:r>
              <a:rPr lang="en-US" sz="1500" b="1" dirty="0">
                <a:solidFill>
                  <a:schemeClr val="tx1"/>
                </a:solidFill>
              </a:rPr>
              <a:t>AI as a button</a:t>
            </a:r>
            <a:endParaRPr lang="en-US" sz="1500" dirty="0"/>
          </a:p>
        </p:txBody>
      </p:sp>
      <p:sp>
        <p:nvSpPr>
          <p:cNvPr id="8" name="Card bullets 23"/>
          <p:cNvSpPr txBox="1"/>
          <p:nvPr/>
        </p:nvSpPr>
        <p:spPr>
          <a:xfrm>
            <a:off x="731520" y="2990088"/>
            <a:ext cx="5067148" cy="2176272"/>
          </a:xfrm>
          <a:prstGeom prst="rect">
            <a:avLst/>
          </a:prstGeom>
          <a:noFill/>
          <a:ln/>
        </p:spPr>
        <p:txBody>
          <a:bodyPr wrap="square" lIns="0" tIns="0" rIns="0" bIns="0" rtlCol="0" anchor="t"/>
          <a:lstStyle/>
          <a:p>
            <a:pPr marL="165100" indent="-165100">
              <a:spcAft>
                <a:spcPts val="500"/>
              </a:spcAft>
              <a:buSzPct val="100000"/>
              <a:buChar char="●"/>
            </a:pPr>
            <a:r>
              <a:rPr lang="en-US" sz="1400" dirty="0">
                <a:solidFill>
                  <a:schemeClr val="accent5"/>
                </a:solidFill>
              </a:rPr>
              <a:t>Type a prompt, get an output</a:t>
            </a:r>
            <a:endParaRPr lang="en-US" sz="1400" dirty="0"/>
          </a:p>
          <a:p>
            <a:pPr marL="165100" indent="-165100">
              <a:spcAft>
                <a:spcPts val="500"/>
              </a:spcAft>
              <a:buSzPct val="100000"/>
              <a:buChar char="●"/>
            </a:pPr>
            <a:r>
              <a:rPr lang="en-US" sz="1400" dirty="0">
                <a:solidFill>
                  <a:schemeClr val="accent5"/>
                </a:solidFill>
              </a:rPr>
              <a:t>Quality depends on who writes the prompt</a:t>
            </a:r>
            <a:endParaRPr lang="en-US" sz="1400" dirty="0"/>
          </a:p>
          <a:p>
            <a:pPr marL="165100" indent="-165100">
              <a:spcAft>
                <a:spcPts val="500"/>
              </a:spcAft>
              <a:buSzPct val="100000"/>
              <a:buChar char="●"/>
            </a:pPr>
            <a:r>
              <a:rPr lang="en-US" sz="1400" dirty="0">
                <a:solidFill>
                  <a:schemeClr val="accent5"/>
                </a:solidFill>
              </a:rPr>
              <a:t>You check everything yourself, afterwards</a:t>
            </a:r>
            <a:endParaRPr lang="en-US" sz="1400" dirty="0"/>
          </a:p>
          <a:p>
            <a:pPr marL="165100" indent="-165100">
              <a:spcAft>
                <a:spcPts val="500"/>
              </a:spcAft>
              <a:buSzPct val="100000"/>
              <a:buChar char="●"/>
            </a:pPr>
            <a:r>
              <a:rPr lang="en-US" sz="1400" dirty="0">
                <a:solidFill>
                  <a:schemeClr val="accent5"/>
                </a:solidFill>
              </a:rPr>
              <a:t>Every session starts from zero</a:t>
            </a:r>
            <a:endParaRPr lang="en-US" sz="1400" dirty="0"/>
          </a:p>
        </p:txBody>
      </p:sp>
      <p:sp>
        <p:nvSpPr>
          <p:cNvPr id="9" name="Card 24"/>
          <p:cNvSpPr/>
          <p:nvPr/>
        </p:nvSpPr>
        <p:spPr>
          <a:xfrm>
            <a:off x="6210148" y="2423160"/>
            <a:ext cx="5432908" cy="2926080"/>
          </a:xfrm>
          <a:prstGeom prst="roundRect">
            <a:avLst>
              <a:gd name="adj" fmla="val 4375"/>
            </a:avLst>
          </a:prstGeom>
          <a:solidFill>
            <a:srgbClr val="E3F6F0"/>
          </a:solidFill>
          <a:ln w="9525">
            <a:solidFill>
              <a:srgbClr val="A8E3D3"/>
            </a:solidFill>
            <a:prstDash val="solid"/>
          </a:ln>
        </p:spPr>
      </p:sp>
      <p:sp>
        <p:nvSpPr>
          <p:cNvPr id="10" name="Card title 25"/>
          <p:cNvSpPr txBox="1"/>
          <p:nvPr/>
        </p:nvSpPr>
        <p:spPr>
          <a:xfrm>
            <a:off x="6393028" y="2606040"/>
            <a:ext cx="5067148" cy="310896"/>
          </a:xfrm>
          <a:prstGeom prst="rect">
            <a:avLst/>
          </a:prstGeom>
          <a:noFill/>
          <a:ln/>
        </p:spPr>
        <p:txBody>
          <a:bodyPr wrap="square" lIns="0" tIns="0" rIns="0" bIns="0" rtlCol="0" anchor="t"/>
          <a:lstStyle/>
          <a:p>
            <a:pPr indent="0" marL="0">
              <a:buNone/>
            </a:pPr>
            <a:r>
              <a:rPr lang="en-US" sz="1500" b="1" dirty="0">
                <a:solidFill>
                  <a:schemeClr val="tx1"/>
                </a:solidFill>
              </a:rPr>
              <a:t>AI as a process</a:t>
            </a:r>
            <a:endParaRPr lang="en-US" sz="1500" dirty="0"/>
          </a:p>
        </p:txBody>
      </p:sp>
      <p:sp>
        <p:nvSpPr>
          <p:cNvPr id="11" name="Card bullets 26"/>
          <p:cNvSpPr txBox="1"/>
          <p:nvPr/>
        </p:nvSpPr>
        <p:spPr>
          <a:xfrm>
            <a:off x="6393028" y="2990088"/>
            <a:ext cx="5067148" cy="2176272"/>
          </a:xfrm>
          <a:prstGeom prst="rect">
            <a:avLst/>
          </a:prstGeom>
          <a:noFill/>
          <a:ln/>
        </p:spPr>
        <p:txBody>
          <a:bodyPr wrap="square" lIns="0" tIns="0" rIns="0" bIns="0" rtlCol="0" anchor="t"/>
          <a:lstStyle/>
          <a:p>
            <a:pPr marL="165100" indent="-165100">
              <a:spcAft>
                <a:spcPts val="500"/>
              </a:spcAft>
              <a:buSzPct val="100000"/>
              <a:buChar char="●"/>
            </a:pPr>
            <a:r>
              <a:rPr lang="en-US" sz="1400" b="1" dirty="0">
                <a:solidFill>
                  <a:schemeClr val="tx1"/>
                </a:solidFill>
              </a:rPr>
              <a:t>Asks first:</a:t>
            </a:r>
            <a:pPr indent="0" marL="0">
              <a:buNone/>
            </a:pPr>
            <a:r>
              <a:rPr lang="en-US" sz="1400" dirty="0">
                <a:solidFill>
                  <a:schemeClr val="accent5"/>
                </a:solidFill>
              </a:rPr>
              <a:t> course placement, prior knowledge, learners, language level</a:t>
            </a:r>
            <a:endParaRPr lang="en-US" sz="1400" dirty="0"/>
          </a:p>
          <a:p>
            <a:pPr marL="165100" indent="-165100">
              <a:spcAft>
                <a:spcPts val="500"/>
              </a:spcAft>
              <a:buSzPct val="100000"/>
              <a:buChar char="●"/>
            </a:pPr>
            <a:r>
              <a:rPr lang="en-US" sz="1400" b="1" dirty="0">
                <a:solidFill>
                  <a:schemeClr val="tx1"/>
                </a:solidFill>
              </a:rPr>
              <a:t>Follows written methods</a:t>
            </a:r>
            <a:pPr indent="0" marL="0">
              <a:buNone/>
            </a:pPr>
            <a:r>
              <a:rPr lang="en-US" sz="1400" dirty="0">
                <a:solidFill>
                  <a:schemeClr val="accent5"/>
                </a:solidFill>
              </a:rPr>
              <a:t> ("skills") every time, for example briefing, decision, debriefing</a:t>
            </a:r>
            <a:endParaRPr lang="en-US" sz="1400" dirty="0"/>
          </a:p>
          <a:p>
            <a:pPr marL="165100" indent="-165100">
              <a:spcAft>
                <a:spcPts val="500"/>
              </a:spcAft>
              <a:buSzPct val="100000"/>
              <a:buChar char="●"/>
            </a:pPr>
            <a:r>
              <a:rPr lang="en-US" sz="1400" b="1" dirty="0">
                <a:solidFill>
                  <a:schemeClr val="tx1"/>
                </a:solidFill>
              </a:rPr>
              <a:t>Checks itself:</a:t>
            </a:r>
            <a:pPr indent="0" marL="0">
              <a:buNone/>
            </a:pPr>
            <a:r>
              <a:rPr lang="en-US" sz="1400" dirty="0">
                <a:solidFill>
                  <a:schemeClr val="accent5"/>
                </a:solidFill>
              </a:rPr>
              <a:t> sources traced, automatic tests, the writer is not the reviewer</a:t>
            </a:r>
            <a:endParaRPr lang="en-US" sz="1400" dirty="0"/>
          </a:p>
          <a:p>
            <a:pPr marL="165100" indent="-165100">
              <a:spcAft>
                <a:spcPts val="500"/>
              </a:spcAft>
              <a:buSzPct val="100000"/>
              <a:buChar char="●"/>
            </a:pPr>
            <a:r>
              <a:rPr lang="en-US" sz="1400" b="1" dirty="0">
                <a:solidFill>
                  <a:schemeClr val="tx1"/>
                </a:solidFill>
              </a:rPr>
              <a:t>The teacher decides:</a:t>
            </a:r>
            <a:pPr indent="0" marL="0">
              <a:buNone/>
            </a:pPr>
            <a:r>
              <a:rPr lang="en-US" sz="1400" dirty="0">
                <a:solidFill>
                  <a:schemeClr val="accent5"/>
                </a:solidFill>
              </a:rPr>
              <a:t> approves the plan before anything is generated</a:t>
            </a:r>
            <a:endParaRPr lang="en-US" sz="1400" dirty="0"/>
          </a:p>
        </p:txBody>
      </p:sp>
      <p:sp>
        <p:nvSpPr>
          <p:cNvPr id="12" name="Caveat 27"/>
          <p:cNvSpPr txBox="1"/>
          <p:nvPr/>
        </p:nvSpPr>
        <p:spPr>
          <a:xfrm>
            <a:off x="548640" y="5577840"/>
            <a:ext cx="11094415" cy="457200"/>
          </a:xfrm>
          <a:prstGeom prst="rect">
            <a:avLst/>
          </a:prstGeom>
          <a:noFill/>
          <a:ln/>
        </p:spPr>
        <p:txBody>
          <a:bodyPr wrap="square" lIns="0" tIns="0" rIns="0" bIns="0" rtlCol="0" anchor="t"/>
          <a:lstStyle/>
          <a:p>
            <a:pPr indent="0" marL="0">
              <a:buNone/>
            </a:pPr>
            <a:r>
              <a:rPr lang="en-US" sz="1100" dirty="0">
                <a:solidFill>
                  <a:srgbClr val="7D8C8F"/>
                </a:solidFill>
              </a:rPr>
              <a:t>The tool shown here is Simuna Creator by 3DBear. Its methods are written down as more than 100 documented skills that the AI agents follow.</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The teacher describes a care situation and the learning goal</a:t>
            </a:r>
            <a:endParaRPr lang="en-US" sz="3000" dirty="0"/>
          </a:p>
        </p:txBody>
      </p:sp>
      <p:sp>
        <p:nvSpPr>
          <p:cNvPr id="4" name="Step bar 28"/>
          <p:cNvSpPr/>
          <p:nvPr/>
        </p:nvSpPr>
        <p:spPr>
          <a:xfrm>
            <a:off x="548640" y="201168"/>
            <a:ext cx="2109155" cy="45720"/>
          </a:xfrm>
          <a:prstGeom prst="rect">
            <a:avLst/>
          </a:prstGeom>
          <a:solidFill>
            <a:srgbClr val="0CD0A4"/>
          </a:solidFill>
          <a:ln/>
        </p:spPr>
      </p:sp>
      <p:sp>
        <p:nvSpPr>
          <p:cNvPr id="5" name="Step label 29"/>
          <p:cNvSpPr txBox="1"/>
          <p:nvPr/>
        </p:nvSpPr>
        <p:spPr>
          <a:xfrm>
            <a:off x="548640"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1</a:t>
            </a:r>
            <a:endParaRPr lang="en-US" sz="800" dirty="0"/>
          </a:p>
          <a:p>
            <a:pPr indent="0" marL="0">
              <a:buNone/>
            </a:pPr>
            <a:r>
              <a:rPr lang="en-US" sz="1100" b="1" dirty="0">
                <a:solidFill>
                  <a:schemeClr val="accent3"/>
                </a:solidFill>
              </a:rPr>
              <a:t>Describe</a:t>
            </a:r>
            <a:endParaRPr lang="en-US" sz="800" dirty="0"/>
          </a:p>
        </p:txBody>
      </p:sp>
      <p:sp>
        <p:nvSpPr>
          <p:cNvPr id="6" name="Step bar 30"/>
          <p:cNvSpPr/>
          <p:nvPr/>
        </p:nvSpPr>
        <p:spPr>
          <a:xfrm>
            <a:off x="2794955" y="201168"/>
            <a:ext cx="2109155" cy="45720"/>
          </a:xfrm>
          <a:prstGeom prst="rect">
            <a:avLst/>
          </a:prstGeom>
          <a:solidFill>
            <a:srgbClr val="E4DED9"/>
          </a:solidFill>
          <a:ln/>
        </p:spPr>
      </p:sp>
      <p:sp>
        <p:nvSpPr>
          <p:cNvPr id="7" name="Step label 31"/>
          <p:cNvSpPr txBox="1"/>
          <p:nvPr/>
        </p:nvSpPr>
        <p:spPr>
          <a:xfrm>
            <a:off x="2794955" y="274320"/>
            <a:ext cx="2109155" cy="402336"/>
          </a:xfrm>
          <a:prstGeom prst="rect">
            <a:avLst/>
          </a:prstGeom>
          <a:noFill/>
          <a:ln/>
        </p:spPr>
        <p:txBody>
          <a:bodyPr wrap="square" lIns="0" tIns="0" rIns="0" bIns="0" rtlCol="0" anchor="t"/>
          <a:lstStyle/>
          <a:p>
            <a:pPr indent="0" marL="0">
              <a:buNone/>
            </a:pPr>
            <a:r>
              <a:rPr lang="en-US" sz="800" b="1" spc="150" kern="0" dirty="0">
                <a:solidFill>
                  <a:srgbClr val="7D8C8F"/>
                </a:solidFill>
              </a:rPr>
              <a:t>STEP 2</a:t>
            </a:r>
            <a:endParaRPr lang="en-US" sz="800" dirty="0"/>
          </a:p>
          <a:p>
            <a:pPr indent="0" marL="0">
              <a:buNone/>
            </a:pPr>
            <a:r>
              <a:rPr lang="en-US" sz="1100" b="1" dirty="0">
                <a:solidFill>
                  <a:srgbClr val="7D8C8F"/>
                </a:solidFill>
              </a:rPr>
              <a:t>Plan</a:t>
            </a:r>
            <a:endParaRPr lang="en-US" sz="800" dirty="0"/>
          </a:p>
        </p:txBody>
      </p:sp>
      <p:sp>
        <p:nvSpPr>
          <p:cNvPr id="8" name="Step bar 32"/>
          <p:cNvSpPr/>
          <p:nvPr/>
        </p:nvSpPr>
        <p:spPr>
          <a:xfrm>
            <a:off x="5041270" y="201168"/>
            <a:ext cx="2109155" cy="45720"/>
          </a:xfrm>
          <a:prstGeom prst="rect">
            <a:avLst/>
          </a:prstGeom>
          <a:solidFill>
            <a:srgbClr val="E4DED9"/>
          </a:solidFill>
          <a:ln/>
        </p:spPr>
      </p:sp>
      <p:sp>
        <p:nvSpPr>
          <p:cNvPr id="9" name="Step label 33"/>
          <p:cNvSpPr txBox="1"/>
          <p:nvPr/>
        </p:nvSpPr>
        <p:spPr>
          <a:xfrm>
            <a:off x="5041270" y="274320"/>
            <a:ext cx="2109155" cy="402336"/>
          </a:xfrm>
          <a:prstGeom prst="rect">
            <a:avLst/>
          </a:prstGeom>
          <a:noFill/>
          <a:ln/>
        </p:spPr>
        <p:txBody>
          <a:bodyPr wrap="square" lIns="0" tIns="0" rIns="0" bIns="0" rtlCol="0" anchor="t"/>
          <a:lstStyle/>
          <a:p>
            <a:pPr indent="0" marL="0">
              <a:buNone/>
            </a:pPr>
            <a:r>
              <a:rPr lang="en-US" sz="800" b="1" spc="150" kern="0" dirty="0">
                <a:solidFill>
                  <a:srgbClr val="7D8C8F"/>
                </a:solidFill>
              </a:rPr>
              <a:t>STEP 3</a:t>
            </a:r>
            <a:endParaRPr lang="en-US" sz="800" dirty="0"/>
          </a:p>
          <a:p>
            <a:pPr indent="0" marL="0">
              <a:buNone/>
            </a:pPr>
            <a:r>
              <a:rPr lang="en-US" sz="1100" b="1" dirty="0">
                <a:solidFill>
                  <a:srgbClr val="7D8C8F"/>
                </a:solidFill>
              </a:rPr>
              <a:t>Build</a:t>
            </a:r>
            <a:endParaRPr lang="en-US" sz="800" dirty="0"/>
          </a:p>
        </p:txBody>
      </p:sp>
      <p:sp>
        <p:nvSpPr>
          <p:cNvPr id="10" name="Step bar 34"/>
          <p:cNvSpPr/>
          <p:nvPr/>
        </p:nvSpPr>
        <p:spPr>
          <a:xfrm>
            <a:off x="7287585" y="201168"/>
            <a:ext cx="2109155" cy="45720"/>
          </a:xfrm>
          <a:prstGeom prst="rect">
            <a:avLst/>
          </a:prstGeom>
          <a:solidFill>
            <a:srgbClr val="E4DED9"/>
          </a:solidFill>
          <a:ln/>
        </p:spPr>
      </p:sp>
      <p:sp>
        <p:nvSpPr>
          <p:cNvPr id="11" name="Step label 35"/>
          <p:cNvSpPr txBox="1"/>
          <p:nvPr/>
        </p:nvSpPr>
        <p:spPr>
          <a:xfrm>
            <a:off x="7287585" y="274320"/>
            <a:ext cx="2109155" cy="402336"/>
          </a:xfrm>
          <a:prstGeom prst="rect">
            <a:avLst/>
          </a:prstGeom>
          <a:noFill/>
          <a:ln/>
        </p:spPr>
        <p:txBody>
          <a:bodyPr wrap="square" lIns="0" tIns="0" rIns="0" bIns="0" rtlCol="0" anchor="t"/>
          <a:lstStyle/>
          <a:p>
            <a:pPr indent="0" marL="0">
              <a:buNone/>
            </a:pPr>
            <a:r>
              <a:rPr lang="en-US" sz="800" b="1" spc="150" kern="0" dirty="0">
                <a:solidFill>
                  <a:srgbClr val="7D8C8F"/>
                </a:solidFill>
              </a:rPr>
              <a:t>STEP 4</a:t>
            </a:r>
            <a:endParaRPr lang="en-US" sz="800" dirty="0"/>
          </a:p>
          <a:p>
            <a:pPr indent="0" marL="0">
              <a:buNone/>
            </a:pPr>
            <a:r>
              <a:rPr lang="en-US" sz="1100" b="1" dirty="0">
                <a:solidFill>
                  <a:srgbClr val="7D8C8F"/>
                </a:solidFill>
              </a:rPr>
              <a:t>Check and review</a:t>
            </a:r>
            <a:endParaRPr lang="en-US" sz="800" dirty="0"/>
          </a:p>
        </p:txBody>
      </p:sp>
      <p:sp>
        <p:nvSpPr>
          <p:cNvPr id="12" name="Step bar 36"/>
          <p:cNvSpPr/>
          <p:nvPr/>
        </p:nvSpPr>
        <p:spPr>
          <a:xfrm>
            <a:off x="9533900" y="201168"/>
            <a:ext cx="2109155" cy="45720"/>
          </a:xfrm>
          <a:prstGeom prst="rect">
            <a:avLst/>
          </a:prstGeom>
          <a:solidFill>
            <a:srgbClr val="E4DED9"/>
          </a:solidFill>
          <a:ln/>
        </p:spPr>
      </p:sp>
      <p:sp>
        <p:nvSpPr>
          <p:cNvPr id="13" name="Step label 37"/>
          <p:cNvSpPr txBox="1"/>
          <p:nvPr/>
        </p:nvSpPr>
        <p:spPr>
          <a:xfrm>
            <a:off x="9533900" y="274320"/>
            <a:ext cx="2109155" cy="402336"/>
          </a:xfrm>
          <a:prstGeom prst="rect">
            <a:avLst/>
          </a:prstGeom>
          <a:noFill/>
          <a:ln/>
        </p:spPr>
        <p:txBody>
          <a:bodyPr wrap="square" lIns="0" tIns="0" rIns="0" bIns="0" rtlCol="0" anchor="t"/>
          <a:lstStyle/>
          <a:p>
            <a:pPr indent="0" marL="0">
              <a:buNone/>
            </a:pPr>
            <a:r>
              <a:rPr lang="en-US" sz="800" b="1" spc="150" kern="0" dirty="0">
                <a:solidFill>
                  <a:srgbClr val="7D8C8F"/>
                </a:solidFill>
              </a:rPr>
              <a:t>STEP 5</a:t>
            </a:r>
            <a:endParaRPr lang="en-US" sz="800" dirty="0"/>
          </a:p>
          <a:p>
            <a:pPr indent="0" marL="0">
              <a:buNone/>
            </a:pPr>
            <a:r>
              <a:rPr lang="en-US" sz="1100" b="1" dirty="0">
                <a:solidFill>
                  <a:srgbClr val="7D8C8F"/>
                </a:solidFill>
              </a:rPr>
              <a:t>Publish</a:t>
            </a:r>
            <a:endParaRPr lang="en-US" sz="800" dirty="0"/>
          </a:p>
        </p:txBody>
      </p:sp>
      <p:sp>
        <p:nvSpPr>
          <p:cNvPr id="14" name="Card 38"/>
          <p:cNvSpPr/>
          <p:nvPr/>
        </p:nvSpPr>
        <p:spPr>
          <a:xfrm>
            <a:off x="548640" y="1828800"/>
            <a:ext cx="5989320" cy="2331720"/>
          </a:xfrm>
          <a:prstGeom prst="roundRect">
            <a:avLst>
              <a:gd name="adj" fmla="val 5490"/>
            </a:avLst>
          </a:prstGeom>
          <a:solidFill>
            <a:srgbClr val="FFFFFF"/>
          </a:solidFill>
          <a:ln w="9525">
            <a:solidFill>
              <a:srgbClr val="E4DED9"/>
            </a:solidFill>
            <a:prstDash val="solid"/>
          </a:ln>
        </p:spPr>
      </p:sp>
      <p:sp>
        <p:nvSpPr>
          <p:cNvPr id="15" name="Prompt"/>
          <p:cNvSpPr txBox="1"/>
          <p:nvPr/>
        </p:nvSpPr>
        <p:spPr>
          <a:xfrm>
            <a:off x="822960" y="2057400"/>
            <a:ext cx="5440680" cy="1965960"/>
          </a:xfrm>
          <a:prstGeom prst="rect">
            <a:avLst/>
          </a:prstGeom>
          <a:noFill/>
          <a:ln/>
        </p:spPr>
        <p:txBody>
          <a:bodyPr wrap="square" lIns="0" tIns="0" rIns="0" bIns="0" rtlCol="0" anchor="t"/>
          <a:lstStyle/>
          <a:p>
            <a:pPr indent="0" marL="0">
              <a:spcAft>
                <a:spcPts val="800"/>
              </a:spcAft>
              <a:buNone/>
            </a:pPr>
            <a:r>
              <a:rPr lang="en-US" sz="900" b="1" spc="150" kern="0" dirty="0">
                <a:solidFill>
                  <a:schemeClr val="accent2"/>
                </a:solidFill>
              </a:rPr>
              <a:t>A TEACHER'S DESCRIPTION (ILLUSTRATIVE)</a:t>
            </a:r>
            <a:endParaRPr lang="en-US" sz="900" dirty="0"/>
          </a:p>
          <a:p>
            <a:pPr indent="0" marL="0">
              <a:spcAft>
                <a:spcPts val="800"/>
              </a:spcAft>
              <a:buNone/>
            </a:pPr>
            <a:r>
              <a:rPr lang="en-US" sz="1700" dirty="0">
                <a:solidFill>
                  <a:schemeClr val="tx1"/>
                </a:solidFill>
              </a:rPr>
              <a:t>"My practical-nurse students have studied the signs of stroke. I want them to practise a home visit where an elderly client has suddenly become unwell. They should notice the signs and choose the right first action."</a:t>
            </a:r>
            <a:endParaRPr lang="en-US" sz="900" dirty="0"/>
          </a:p>
        </p:txBody>
      </p:sp>
      <p:sp>
        <p:nvSpPr>
          <p:cNvPr id="16" name="Card 39"/>
          <p:cNvSpPr/>
          <p:nvPr/>
        </p:nvSpPr>
        <p:spPr>
          <a:xfrm>
            <a:off x="6766560" y="1828800"/>
            <a:ext cx="4876495" cy="2331720"/>
          </a:xfrm>
          <a:prstGeom prst="roundRect">
            <a:avLst>
              <a:gd name="adj" fmla="val 5490"/>
            </a:avLst>
          </a:prstGeom>
          <a:solidFill>
            <a:srgbClr val="FFFFFF"/>
          </a:solidFill>
          <a:ln w="9525">
            <a:solidFill>
              <a:srgbClr val="E4DED9"/>
            </a:solidFill>
            <a:prstDash val="solid"/>
          </a:ln>
        </p:spPr>
      </p:sp>
      <p:sp>
        <p:nvSpPr>
          <p:cNvPr id="17" name="Card title 40"/>
          <p:cNvSpPr txBox="1"/>
          <p:nvPr/>
        </p:nvSpPr>
        <p:spPr>
          <a:xfrm>
            <a:off x="6949440" y="2011680"/>
            <a:ext cx="4510735" cy="310896"/>
          </a:xfrm>
          <a:prstGeom prst="rect">
            <a:avLst/>
          </a:prstGeom>
          <a:noFill/>
          <a:ln/>
        </p:spPr>
        <p:txBody>
          <a:bodyPr wrap="square" lIns="0" tIns="0" rIns="0" bIns="0" rtlCol="0" anchor="t"/>
          <a:lstStyle/>
          <a:p>
            <a:pPr indent="0" marL="0">
              <a:buNone/>
            </a:pPr>
            <a:r>
              <a:rPr lang="en-US" sz="1500" b="1" dirty="0">
                <a:solidFill>
                  <a:schemeClr val="tx1"/>
                </a:solidFill>
              </a:rPr>
              <a:t>Before writing anything, the AI asks</a:t>
            </a:r>
            <a:endParaRPr lang="en-US" sz="1500" dirty="0"/>
          </a:p>
        </p:txBody>
      </p:sp>
      <p:sp>
        <p:nvSpPr>
          <p:cNvPr id="18" name="Card bullets 41"/>
          <p:cNvSpPr txBox="1"/>
          <p:nvPr/>
        </p:nvSpPr>
        <p:spPr>
          <a:xfrm>
            <a:off x="6949440" y="2395728"/>
            <a:ext cx="4510735" cy="1581912"/>
          </a:xfrm>
          <a:prstGeom prst="rect">
            <a:avLst/>
          </a:prstGeom>
          <a:noFill/>
          <a:ln/>
        </p:spPr>
        <p:txBody>
          <a:bodyPr wrap="square" lIns="0" tIns="0" rIns="0" bIns="0" rtlCol="0" anchor="t"/>
          <a:lstStyle/>
          <a:p>
            <a:pPr marL="165100" indent="-165100">
              <a:spcAft>
                <a:spcPts val="500"/>
              </a:spcAft>
              <a:buSzPct val="100000"/>
              <a:buChar char="●"/>
            </a:pPr>
            <a:r>
              <a:rPr lang="en-US" sz="1300" dirty="0">
                <a:solidFill>
                  <a:schemeClr val="accent5"/>
                </a:solidFill>
              </a:rPr>
              <a:t>Where in the course does this go, and what comes before it?</a:t>
            </a:r>
            <a:endParaRPr lang="en-US" sz="1300" dirty="0"/>
          </a:p>
          <a:p>
            <a:pPr marL="165100" indent="-165100">
              <a:spcAft>
                <a:spcPts val="500"/>
              </a:spcAft>
              <a:buSzPct val="100000"/>
              <a:buChar char="●"/>
            </a:pPr>
            <a:r>
              <a:rPr lang="en-US" sz="1300" dirty="0">
                <a:solidFill>
                  <a:schemeClr val="accent5"/>
                </a:solidFill>
              </a:rPr>
              <a:t>What do the students already know?</a:t>
            </a:r>
            <a:endParaRPr lang="en-US" sz="1300" dirty="0"/>
          </a:p>
          <a:p>
            <a:pPr marL="165100" indent="-165100">
              <a:spcAft>
                <a:spcPts val="500"/>
              </a:spcAft>
              <a:buSzPct val="100000"/>
              <a:buChar char="●"/>
            </a:pPr>
            <a:r>
              <a:rPr lang="en-US" sz="1300" dirty="0">
                <a:solidFill>
                  <a:schemeClr val="accent5"/>
                </a:solidFill>
              </a:rPr>
              <a:t>Who are the learners, and what is their language level?</a:t>
            </a:r>
            <a:endParaRPr lang="en-US" sz="1300" dirty="0"/>
          </a:p>
          <a:p>
            <a:pPr marL="165100" indent="-165100">
              <a:spcAft>
                <a:spcPts val="500"/>
              </a:spcAft>
              <a:buSzPct val="100000"/>
              <a:buChar char="●"/>
            </a:pPr>
            <a:r>
              <a:rPr lang="en-US" sz="1300" dirty="0">
                <a:solidFill>
                  <a:schemeClr val="accent5"/>
                </a:solidFill>
              </a:rPr>
              <a:t>Is there material to use: a guideline, a video, a recording?</a:t>
            </a:r>
            <a:endParaRPr lang="en-US" sz="1300" dirty="0"/>
          </a:p>
        </p:txBody>
      </p:sp>
      <p:sp>
        <p:nvSpPr>
          <p:cNvPr id="19" name="Caveat 42"/>
          <p:cNvSpPr txBox="1"/>
          <p:nvPr/>
        </p:nvSpPr>
        <p:spPr>
          <a:xfrm>
            <a:off x="548640" y="4434840"/>
            <a:ext cx="11094415" cy="640080"/>
          </a:xfrm>
          <a:prstGeom prst="rect">
            <a:avLst/>
          </a:prstGeom>
          <a:noFill/>
          <a:ln/>
        </p:spPr>
        <p:txBody>
          <a:bodyPr wrap="square" lIns="0" tIns="0" rIns="0" bIns="0" rtlCol="0" anchor="t"/>
          <a:lstStyle/>
          <a:p>
            <a:pPr indent="0" marL="0">
              <a:buNone/>
            </a:pPr>
            <a:r>
              <a:rPr lang="en-US" sz="1100" dirty="0">
                <a:solidFill>
                  <a:srgbClr val="7D8C8F"/>
                </a:solidFill>
              </a:rPr>
              <a:t>Running example: "Acute deterioration in home care", built for NEXR from a Finnish practical-nurse learning outcome in the NEXR curriculum analysis: "Respond to acute changes in a client's condition and provide first aid" (EQF 4, XR suitability: high).</a:t>
            </a:r>
            <a:endParaRPr lang="en-US" sz="1100" dirty="0"/>
          </a:p>
        </p:txBody>
      </p:sp>
      <p:sp>
        <p:nvSpPr>
          <p:cNvPr id="20"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The AI writes a scene plan with the pedagogy built in</a:t>
            </a:r>
            <a:endParaRPr lang="en-US" sz="3000" dirty="0"/>
          </a:p>
        </p:txBody>
      </p:sp>
      <p:sp>
        <p:nvSpPr>
          <p:cNvPr id="4" name="Step bar 43"/>
          <p:cNvSpPr/>
          <p:nvPr/>
        </p:nvSpPr>
        <p:spPr>
          <a:xfrm>
            <a:off x="548640" y="201168"/>
            <a:ext cx="2109155" cy="45720"/>
          </a:xfrm>
          <a:prstGeom prst="rect">
            <a:avLst/>
          </a:prstGeom>
          <a:solidFill>
            <a:srgbClr val="99B7BA"/>
          </a:solidFill>
          <a:ln/>
        </p:spPr>
      </p:sp>
      <p:sp>
        <p:nvSpPr>
          <p:cNvPr id="5" name="Step label 44"/>
          <p:cNvSpPr txBox="1"/>
          <p:nvPr/>
        </p:nvSpPr>
        <p:spPr>
          <a:xfrm>
            <a:off x="548640"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1</a:t>
            </a:r>
            <a:endParaRPr lang="en-US" sz="800" dirty="0"/>
          </a:p>
          <a:p>
            <a:pPr indent="0" marL="0">
              <a:buNone/>
            </a:pPr>
            <a:r>
              <a:rPr lang="en-US" sz="1100" b="1" dirty="0">
                <a:solidFill>
                  <a:schemeClr val="accent3"/>
                </a:solidFill>
              </a:rPr>
              <a:t>Describe</a:t>
            </a:r>
            <a:endParaRPr lang="en-US" sz="800" dirty="0"/>
          </a:p>
        </p:txBody>
      </p:sp>
      <p:sp>
        <p:nvSpPr>
          <p:cNvPr id="6" name="Step bar 45"/>
          <p:cNvSpPr/>
          <p:nvPr/>
        </p:nvSpPr>
        <p:spPr>
          <a:xfrm>
            <a:off x="2794955" y="201168"/>
            <a:ext cx="2109155" cy="45720"/>
          </a:xfrm>
          <a:prstGeom prst="rect">
            <a:avLst/>
          </a:prstGeom>
          <a:solidFill>
            <a:srgbClr val="0CD0A4"/>
          </a:solidFill>
          <a:ln/>
        </p:spPr>
      </p:sp>
      <p:sp>
        <p:nvSpPr>
          <p:cNvPr id="7" name="Step label 46"/>
          <p:cNvSpPr txBox="1"/>
          <p:nvPr/>
        </p:nvSpPr>
        <p:spPr>
          <a:xfrm>
            <a:off x="2794955"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2</a:t>
            </a:r>
            <a:endParaRPr lang="en-US" sz="800" dirty="0"/>
          </a:p>
          <a:p>
            <a:pPr indent="0" marL="0">
              <a:buNone/>
            </a:pPr>
            <a:r>
              <a:rPr lang="en-US" sz="1100" b="1" dirty="0">
                <a:solidFill>
                  <a:schemeClr val="accent3"/>
                </a:solidFill>
              </a:rPr>
              <a:t>Plan</a:t>
            </a:r>
            <a:endParaRPr lang="en-US" sz="800" dirty="0"/>
          </a:p>
        </p:txBody>
      </p:sp>
      <p:sp>
        <p:nvSpPr>
          <p:cNvPr id="8" name="Step bar 47"/>
          <p:cNvSpPr/>
          <p:nvPr/>
        </p:nvSpPr>
        <p:spPr>
          <a:xfrm>
            <a:off x="5041270" y="201168"/>
            <a:ext cx="2109155" cy="45720"/>
          </a:xfrm>
          <a:prstGeom prst="rect">
            <a:avLst/>
          </a:prstGeom>
          <a:solidFill>
            <a:srgbClr val="E4DED9"/>
          </a:solidFill>
          <a:ln/>
        </p:spPr>
      </p:sp>
      <p:sp>
        <p:nvSpPr>
          <p:cNvPr id="9" name="Step label 48"/>
          <p:cNvSpPr txBox="1"/>
          <p:nvPr/>
        </p:nvSpPr>
        <p:spPr>
          <a:xfrm>
            <a:off x="5041270" y="274320"/>
            <a:ext cx="2109155" cy="402336"/>
          </a:xfrm>
          <a:prstGeom prst="rect">
            <a:avLst/>
          </a:prstGeom>
          <a:noFill/>
          <a:ln/>
        </p:spPr>
        <p:txBody>
          <a:bodyPr wrap="square" lIns="0" tIns="0" rIns="0" bIns="0" rtlCol="0" anchor="t"/>
          <a:lstStyle/>
          <a:p>
            <a:pPr indent="0" marL="0">
              <a:buNone/>
            </a:pPr>
            <a:r>
              <a:rPr lang="en-US" sz="800" b="1" spc="150" kern="0" dirty="0">
                <a:solidFill>
                  <a:srgbClr val="7D8C8F"/>
                </a:solidFill>
              </a:rPr>
              <a:t>STEP 3</a:t>
            </a:r>
            <a:endParaRPr lang="en-US" sz="800" dirty="0"/>
          </a:p>
          <a:p>
            <a:pPr indent="0" marL="0">
              <a:buNone/>
            </a:pPr>
            <a:r>
              <a:rPr lang="en-US" sz="1100" b="1" dirty="0">
                <a:solidFill>
                  <a:srgbClr val="7D8C8F"/>
                </a:solidFill>
              </a:rPr>
              <a:t>Build</a:t>
            </a:r>
            <a:endParaRPr lang="en-US" sz="800" dirty="0"/>
          </a:p>
        </p:txBody>
      </p:sp>
      <p:sp>
        <p:nvSpPr>
          <p:cNvPr id="10" name="Step bar 49"/>
          <p:cNvSpPr/>
          <p:nvPr/>
        </p:nvSpPr>
        <p:spPr>
          <a:xfrm>
            <a:off x="7287585" y="201168"/>
            <a:ext cx="2109155" cy="45720"/>
          </a:xfrm>
          <a:prstGeom prst="rect">
            <a:avLst/>
          </a:prstGeom>
          <a:solidFill>
            <a:srgbClr val="E4DED9"/>
          </a:solidFill>
          <a:ln/>
        </p:spPr>
      </p:sp>
      <p:sp>
        <p:nvSpPr>
          <p:cNvPr id="11" name="Step label 50"/>
          <p:cNvSpPr txBox="1"/>
          <p:nvPr/>
        </p:nvSpPr>
        <p:spPr>
          <a:xfrm>
            <a:off x="7287585" y="274320"/>
            <a:ext cx="2109155" cy="402336"/>
          </a:xfrm>
          <a:prstGeom prst="rect">
            <a:avLst/>
          </a:prstGeom>
          <a:noFill/>
          <a:ln/>
        </p:spPr>
        <p:txBody>
          <a:bodyPr wrap="square" lIns="0" tIns="0" rIns="0" bIns="0" rtlCol="0" anchor="t"/>
          <a:lstStyle/>
          <a:p>
            <a:pPr indent="0" marL="0">
              <a:buNone/>
            </a:pPr>
            <a:r>
              <a:rPr lang="en-US" sz="800" b="1" spc="150" kern="0" dirty="0">
                <a:solidFill>
                  <a:srgbClr val="7D8C8F"/>
                </a:solidFill>
              </a:rPr>
              <a:t>STEP 4</a:t>
            </a:r>
            <a:endParaRPr lang="en-US" sz="800" dirty="0"/>
          </a:p>
          <a:p>
            <a:pPr indent="0" marL="0">
              <a:buNone/>
            </a:pPr>
            <a:r>
              <a:rPr lang="en-US" sz="1100" b="1" dirty="0">
                <a:solidFill>
                  <a:srgbClr val="7D8C8F"/>
                </a:solidFill>
              </a:rPr>
              <a:t>Check and review</a:t>
            </a:r>
            <a:endParaRPr lang="en-US" sz="800" dirty="0"/>
          </a:p>
        </p:txBody>
      </p:sp>
      <p:sp>
        <p:nvSpPr>
          <p:cNvPr id="12" name="Step bar 51"/>
          <p:cNvSpPr/>
          <p:nvPr/>
        </p:nvSpPr>
        <p:spPr>
          <a:xfrm>
            <a:off x="9533900" y="201168"/>
            <a:ext cx="2109155" cy="45720"/>
          </a:xfrm>
          <a:prstGeom prst="rect">
            <a:avLst/>
          </a:prstGeom>
          <a:solidFill>
            <a:srgbClr val="E4DED9"/>
          </a:solidFill>
          <a:ln/>
        </p:spPr>
      </p:sp>
      <p:sp>
        <p:nvSpPr>
          <p:cNvPr id="13" name="Step label 52"/>
          <p:cNvSpPr txBox="1"/>
          <p:nvPr/>
        </p:nvSpPr>
        <p:spPr>
          <a:xfrm>
            <a:off x="9533900" y="274320"/>
            <a:ext cx="2109155" cy="402336"/>
          </a:xfrm>
          <a:prstGeom prst="rect">
            <a:avLst/>
          </a:prstGeom>
          <a:noFill/>
          <a:ln/>
        </p:spPr>
        <p:txBody>
          <a:bodyPr wrap="square" lIns="0" tIns="0" rIns="0" bIns="0" rtlCol="0" anchor="t"/>
          <a:lstStyle/>
          <a:p>
            <a:pPr indent="0" marL="0">
              <a:buNone/>
            </a:pPr>
            <a:r>
              <a:rPr lang="en-US" sz="800" b="1" spc="150" kern="0" dirty="0">
                <a:solidFill>
                  <a:srgbClr val="7D8C8F"/>
                </a:solidFill>
              </a:rPr>
              <a:t>STEP 5</a:t>
            </a:r>
            <a:endParaRPr lang="en-US" sz="800" dirty="0"/>
          </a:p>
          <a:p>
            <a:pPr indent="0" marL="0">
              <a:buNone/>
            </a:pPr>
            <a:r>
              <a:rPr lang="en-US" sz="1100" b="1" dirty="0">
                <a:solidFill>
                  <a:srgbClr val="7D8C8F"/>
                </a:solidFill>
              </a:rPr>
              <a:t>Publish</a:t>
            </a:r>
            <a:endParaRPr lang="en-US" sz="800" dirty="0"/>
          </a:p>
        </p:txBody>
      </p:sp>
      <p:sp>
        <p:nvSpPr>
          <p:cNvPr id="14" name="Card 53"/>
          <p:cNvSpPr/>
          <p:nvPr/>
        </p:nvSpPr>
        <p:spPr>
          <a:xfrm>
            <a:off x="548640" y="1783080"/>
            <a:ext cx="1999427" cy="2103120"/>
          </a:xfrm>
          <a:prstGeom prst="roundRect">
            <a:avLst>
              <a:gd name="adj" fmla="val 6403"/>
            </a:avLst>
          </a:prstGeom>
          <a:solidFill>
            <a:srgbClr val="FFFFFF"/>
          </a:solidFill>
          <a:ln w="9525">
            <a:solidFill>
              <a:srgbClr val="E4DED9"/>
            </a:solidFill>
            <a:prstDash val="solid"/>
          </a:ln>
        </p:spPr>
      </p:sp>
      <p:sp>
        <p:nvSpPr>
          <p:cNvPr id="15" name="Tag 54"/>
          <p:cNvSpPr txBox="1"/>
          <p:nvPr/>
        </p:nvSpPr>
        <p:spPr>
          <a:xfrm>
            <a:off x="731520" y="1965960"/>
            <a:ext cx="1633667" cy="201168"/>
          </a:xfrm>
          <a:prstGeom prst="rect">
            <a:avLst/>
          </a:prstGeom>
          <a:noFill/>
          <a:ln/>
        </p:spPr>
        <p:txBody>
          <a:bodyPr wrap="square" lIns="0" tIns="0" rIns="0" bIns="0" rtlCol="0" anchor="ctr"/>
          <a:lstStyle/>
          <a:p>
            <a:pPr indent="0" marL="0">
              <a:buNone/>
            </a:pPr>
            <a:r>
              <a:rPr lang="en-US" sz="900" b="1" spc="150" kern="0" dirty="0">
                <a:solidFill>
                  <a:schemeClr val="accent2"/>
                </a:solidFill>
              </a:rPr>
              <a:t>BRIEFING</a:t>
            </a:r>
            <a:endParaRPr lang="en-US" sz="900" dirty="0"/>
          </a:p>
        </p:txBody>
      </p:sp>
      <p:sp>
        <p:nvSpPr>
          <p:cNvPr id="16" name="Card title 55"/>
          <p:cNvSpPr txBox="1"/>
          <p:nvPr/>
        </p:nvSpPr>
        <p:spPr>
          <a:xfrm>
            <a:off x="731520" y="2203704"/>
            <a:ext cx="1633667" cy="256032"/>
          </a:xfrm>
          <a:prstGeom prst="rect">
            <a:avLst/>
          </a:prstGeom>
          <a:noFill/>
          <a:ln/>
        </p:spPr>
        <p:txBody>
          <a:bodyPr wrap="square" lIns="0" tIns="0" rIns="0" bIns="0" rtlCol="0" anchor="t"/>
          <a:lstStyle/>
          <a:p>
            <a:pPr indent="0" marL="0">
              <a:buNone/>
            </a:pPr>
            <a:r>
              <a:rPr lang="en-US" sz="1300" b="1" dirty="0">
                <a:solidFill>
                  <a:schemeClr val="tx1"/>
                </a:solidFill>
              </a:rPr>
              <a:t>Arrive at Aino's home</a:t>
            </a:r>
            <a:endParaRPr lang="en-US" sz="1300" dirty="0"/>
          </a:p>
        </p:txBody>
      </p:sp>
      <p:sp>
        <p:nvSpPr>
          <p:cNvPr id="17" name="Card text 56"/>
          <p:cNvSpPr txBox="1"/>
          <p:nvPr/>
        </p:nvSpPr>
        <p:spPr>
          <a:xfrm>
            <a:off x="731520" y="2532888"/>
            <a:ext cx="1633667" cy="1170432"/>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Role and context. Activating question: which signs tell you her condition changed suddenly?</a:t>
            </a:r>
            <a:endParaRPr lang="en-US" sz="1100" dirty="0"/>
          </a:p>
        </p:txBody>
      </p:sp>
      <p:sp>
        <p:nvSpPr>
          <p:cNvPr id="18" name="Arrow 57"/>
          <p:cNvSpPr txBox="1"/>
          <p:nvPr/>
        </p:nvSpPr>
        <p:spPr>
          <a:xfrm>
            <a:off x="2529779" y="2651760"/>
            <a:ext cx="310896" cy="36576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19" name="Card 58"/>
          <p:cNvSpPr/>
          <p:nvPr/>
        </p:nvSpPr>
        <p:spPr>
          <a:xfrm>
            <a:off x="2822387" y="1783080"/>
            <a:ext cx="1999427" cy="2103120"/>
          </a:xfrm>
          <a:prstGeom prst="roundRect">
            <a:avLst>
              <a:gd name="adj" fmla="val 6403"/>
            </a:avLst>
          </a:prstGeom>
          <a:solidFill>
            <a:srgbClr val="FFFFFF"/>
          </a:solidFill>
          <a:ln w="9525">
            <a:solidFill>
              <a:srgbClr val="E4DED9"/>
            </a:solidFill>
            <a:prstDash val="solid"/>
          </a:ln>
        </p:spPr>
      </p:sp>
      <p:sp>
        <p:nvSpPr>
          <p:cNvPr id="20" name="Tag 59"/>
          <p:cNvSpPr txBox="1"/>
          <p:nvPr/>
        </p:nvSpPr>
        <p:spPr>
          <a:xfrm>
            <a:off x="3005267" y="1965960"/>
            <a:ext cx="1633667" cy="201168"/>
          </a:xfrm>
          <a:prstGeom prst="rect">
            <a:avLst/>
          </a:prstGeom>
          <a:noFill/>
          <a:ln/>
        </p:spPr>
        <p:txBody>
          <a:bodyPr wrap="square" lIns="0" tIns="0" rIns="0" bIns="0" rtlCol="0" anchor="ctr"/>
          <a:lstStyle/>
          <a:p>
            <a:pPr indent="0" marL="0">
              <a:buNone/>
            </a:pPr>
            <a:r>
              <a:rPr lang="en-US" sz="900" b="1" spc="150" kern="0" dirty="0">
                <a:solidFill>
                  <a:schemeClr val="accent2"/>
                </a:solidFill>
              </a:rPr>
              <a:t>EXPLORE</a:t>
            </a:r>
            <a:endParaRPr lang="en-US" sz="900" dirty="0"/>
          </a:p>
        </p:txBody>
      </p:sp>
      <p:sp>
        <p:nvSpPr>
          <p:cNvPr id="21" name="Card title 60"/>
          <p:cNvSpPr txBox="1"/>
          <p:nvPr/>
        </p:nvSpPr>
        <p:spPr>
          <a:xfrm>
            <a:off x="3005267" y="2203704"/>
            <a:ext cx="1633667" cy="256032"/>
          </a:xfrm>
          <a:prstGeom prst="rect">
            <a:avLst/>
          </a:prstGeom>
          <a:noFill/>
          <a:ln/>
        </p:spPr>
        <p:txBody>
          <a:bodyPr wrap="square" lIns="0" tIns="0" rIns="0" bIns="0" rtlCol="0" anchor="t"/>
          <a:lstStyle/>
          <a:p>
            <a:pPr indent="0" marL="0">
              <a:buNone/>
            </a:pPr>
            <a:r>
              <a:rPr lang="en-US" sz="1300" b="1" dirty="0">
                <a:solidFill>
                  <a:schemeClr val="tx1"/>
                </a:solidFill>
              </a:rPr>
              <a:t>Find the clues</a:t>
            </a:r>
            <a:endParaRPr lang="en-US" sz="1300" dirty="0"/>
          </a:p>
        </p:txBody>
      </p:sp>
      <p:sp>
        <p:nvSpPr>
          <p:cNvPr id="22" name="Card text 61"/>
          <p:cNvSpPr txBox="1"/>
          <p:nvPr/>
        </p:nvSpPr>
        <p:spPr>
          <a:xfrm>
            <a:off x="3005267" y="2532888"/>
            <a:ext cx="1633667" cy="1170432"/>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Look around the room in 360°, find four clinical clues and listen to what Aino says.</a:t>
            </a:r>
            <a:endParaRPr lang="en-US" sz="1100" dirty="0"/>
          </a:p>
        </p:txBody>
      </p:sp>
      <p:sp>
        <p:nvSpPr>
          <p:cNvPr id="23" name="Arrow 62"/>
          <p:cNvSpPr txBox="1"/>
          <p:nvPr/>
        </p:nvSpPr>
        <p:spPr>
          <a:xfrm>
            <a:off x="4803526" y="2651760"/>
            <a:ext cx="310896" cy="36576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24" name="Card 63"/>
          <p:cNvSpPr/>
          <p:nvPr/>
        </p:nvSpPr>
        <p:spPr>
          <a:xfrm>
            <a:off x="5096134" y="1783080"/>
            <a:ext cx="1999427" cy="2103120"/>
          </a:xfrm>
          <a:prstGeom prst="roundRect">
            <a:avLst>
              <a:gd name="adj" fmla="val 6403"/>
            </a:avLst>
          </a:prstGeom>
          <a:solidFill>
            <a:srgbClr val="FFFFFF"/>
          </a:solidFill>
          <a:ln w="9525">
            <a:solidFill>
              <a:srgbClr val="E4DED9"/>
            </a:solidFill>
            <a:prstDash val="solid"/>
          </a:ln>
        </p:spPr>
      </p:sp>
      <p:sp>
        <p:nvSpPr>
          <p:cNvPr id="25" name="Tag 64"/>
          <p:cNvSpPr txBox="1"/>
          <p:nvPr/>
        </p:nvSpPr>
        <p:spPr>
          <a:xfrm>
            <a:off x="5279014" y="1965960"/>
            <a:ext cx="1633667" cy="201168"/>
          </a:xfrm>
          <a:prstGeom prst="rect">
            <a:avLst/>
          </a:prstGeom>
          <a:noFill/>
          <a:ln/>
        </p:spPr>
        <p:txBody>
          <a:bodyPr wrap="square" lIns="0" tIns="0" rIns="0" bIns="0" rtlCol="0" anchor="ctr"/>
          <a:lstStyle/>
          <a:p>
            <a:pPr indent="0" marL="0">
              <a:buNone/>
            </a:pPr>
            <a:r>
              <a:rPr lang="en-US" sz="900" b="1" spc="150" kern="0" dirty="0">
                <a:solidFill>
                  <a:schemeClr val="accent2"/>
                </a:solidFill>
              </a:rPr>
              <a:t>DECIDE</a:t>
            </a:r>
            <a:endParaRPr lang="en-US" sz="900" dirty="0"/>
          </a:p>
        </p:txBody>
      </p:sp>
      <p:sp>
        <p:nvSpPr>
          <p:cNvPr id="26" name="Card title 65"/>
          <p:cNvSpPr txBox="1"/>
          <p:nvPr/>
        </p:nvSpPr>
        <p:spPr>
          <a:xfrm>
            <a:off x="5279014" y="2203704"/>
            <a:ext cx="1633667" cy="256032"/>
          </a:xfrm>
          <a:prstGeom prst="rect">
            <a:avLst/>
          </a:prstGeom>
          <a:noFill/>
          <a:ln/>
        </p:spPr>
        <p:txBody>
          <a:bodyPr wrap="square" lIns="0" tIns="0" rIns="0" bIns="0" rtlCol="0" anchor="t"/>
          <a:lstStyle/>
          <a:p>
            <a:pPr indent="0" marL="0">
              <a:buNone/>
            </a:pPr>
            <a:r>
              <a:rPr lang="en-US" sz="1300" b="1" dirty="0">
                <a:solidFill>
                  <a:schemeClr val="tx1"/>
                </a:solidFill>
              </a:rPr>
              <a:t>First action?</a:t>
            </a:r>
            <a:endParaRPr lang="en-US" sz="1300" dirty="0"/>
          </a:p>
        </p:txBody>
      </p:sp>
      <p:sp>
        <p:nvSpPr>
          <p:cNvPr id="27" name="Card text 66"/>
          <p:cNvSpPr txBox="1"/>
          <p:nvPr/>
        </p:nvSpPr>
        <p:spPr>
          <a:xfrm>
            <a:off x="5279014" y="2532888"/>
            <a:ext cx="1633667" cy="1170432"/>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Four options: call 112 and assess with FAST, put her to bed, give water and check blood sugar, call a relative. Feedback on each.</a:t>
            </a:r>
            <a:endParaRPr lang="en-US" sz="1100" dirty="0"/>
          </a:p>
        </p:txBody>
      </p:sp>
      <p:sp>
        <p:nvSpPr>
          <p:cNvPr id="28" name="Arrow 67"/>
          <p:cNvSpPr txBox="1"/>
          <p:nvPr/>
        </p:nvSpPr>
        <p:spPr>
          <a:xfrm>
            <a:off x="7077273" y="2651760"/>
            <a:ext cx="310896" cy="36576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29" name="Card 68"/>
          <p:cNvSpPr/>
          <p:nvPr/>
        </p:nvSpPr>
        <p:spPr>
          <a:xfrm>
            <a:off x="7369881" y="1783080"/>
            <a:ext cx="1999427" cy="2103120"/>
          </a:xfrm>
          <a:prstGeom prst="roundRect">
            <a:avLst>
              <a:gd name="adj" fmla="val 6403"/>
            </a:avLst>
          </a:prstGeom>
          <a:solidFill>
            <a:srgbClr val="FFFFFF"/>
          </a:solidFill>
          <a:ln w="9525">
            <a:solidFill>
              <a:srgbClr val="E4DED9"/>
            </a:solidFill>
            <a:prstDash val="solid"/>
          </a:ln>
        </p:spPr>
      </p:sp>
      <p:sp>
        <p:nvSpPr>
          <p:cNvPr id="30" name="Tag 69"/>
          <p:cNvSpPr txBox="1"/>
          <p:nvPr/>
        </p:nvSpPr>
        <p:spPr>
          <a:xfrm>
            <a:off x="7552761" y="1965960"/>
            <a:ext cx="1633667" cy="201168"/>
          </a:xfrm>
          <a:prstGeom prst="rect">
            <a:avLst/>
          </a:prstGeom>
          <a:noFill/>
          <a:ln/>
        </p:spPr>
        <p:txBody>
          <a:bodyPr wrap="square" lIns="0" tIns="0" rIns="0" bIns="0" rtlCol="0" anchor="ctr"/>
          <a:lstStyle/>
          <a:p>
            <a:pPr indent="0" marL="0">
              <a:buNone/>
            </a:pPr>
            <a:r>
              <a:rPr lang="en-US" sz="900" b="1" spc="150" kern="0" dirty="0">
                <a:solidFill>
                  <a:schemeClr val="accent2"/>
                </a:solidFill>
              </a:rPr>
              <a:t>CONSEQUENCE</a:t>
            </a:r>
            <a:endParaRPr lang="en-US" sz="900" dirty="0"/>
          </a:p>
        </p:txBody>
      </p:sp>
      <p:sp>
        <p:nvSpPr>
          <p:cNvPr id="31" name="Card title 70"/>
          <p:cNvSpPr txBox="1"/>
          <p:nvPr/>
        </p:nvSpPr>
        <p:spPr>
          <a:xfrm>
            <a:off x="7552761" y="2203704"/>
            <a:ext cx="1633667" cy="256032"/>
          </a:xfrm>
          <a:prstGeom prst="rect">
            <a:avLst/>
          </a:prstGeom>
          <a:noFill/>
          <a:ln/>
        </p:spPr>
        <p:txBody>
          <a:bodyPr wrap="square" lIns="0" tIns="0" rIns="0" bIns="0" rtlCol="0" anchor="t"/>
          <a:lstStyle/>
          <a:p>
            <a:pPr indent="0" marL="0">
              <a:buNone/>
            </a:pPr>
            <a:r>
              <a:rPr lang="en-US" sz="1300" b="1" dirty="0">
                <a:solidFill>
                  <a:schemeClr val="tx1"/>
                </a:solidFill>
              </a:rPr>
              <a:t>See what happens</a:t>
            </a:r>
            <a:endParaRPr lang="en-US" sz="1300" dirty="0"/>
          </a:p>
        </p:txBody>
      </p:sp>
      <p:sp>
        <p:nvSpPr>
          <p:cNvPr id="32" name="Card text 71"/>
          <p:cNvSpPr txBox="1"/>
          <p:nvPr/>
        </p:nvSpPr>
        <p:spPr>
          <a:xfrm>
            <a:off x="7552761" y="2532888"/>
            <a:ext cx="1633667" cy="1170432"/>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Right: paramedics arrive in time. Wrong: care is delayed, and the learner returns to the decision.</a:t>
            </a:r>
            <a:endParaRPr lang="en-US" sz="1100" dirty="0"/>
          </a:p>
        </p:txBody>
      </p:sp>
      <p:sp>
        <p:nvSpPr>
          <p:cNvPr id="33" name="Arrow 72"/>
          <p:cNvSpPr txBox="1"/>
          <p:nvPr/>
        </p:nvSpPr>
        <p:spPr>
          <a:xfrm>
            <a:off x="9351020" y="2651760"/>
            <a:ext cx="310896" cy="365760"/>
          </a:xfrm>
          <a:prstGeom prst="rect">
            <a:avLst/>
          </a:prstGeom>
          <a:noFill/>
          <a:ln/>
        </p:spPr>
        <p:txBody>
          <a:bodyPr wrap="square" lIns="0" tIns="0" rIns="0" bIns="0" rtlCol="0" anchor="ctr"/>
          <a:lstStyle/>
          <a:p>
            <a:pPr algn="ctr" indent="0" marL="0">
              <a:buNone/>
            </a:pPr>
            <a:r>
              <a:rPr lang="en-US" sz="1600" b="1" dirty="0">
                <a:solidFill>
                  <a:schemeClr val="accent2"/>
                </a:solidFill>
              </a:rPr>
              <a:t>→</a:t>
            </a:r>
            <a:endParaRPr lang="en-US" sz="1600" dirty="0"/>
          </a:p>
        </p:txBody>
      </p:sp>
      <p:sp>
        <p:nvSpPr>
          <p:cNvPr id="34" name="Card 73"/>
          <p:cNvSpPr/>
          <p:nvPr/>
        </p:nvSpPr>
        <p:spPr>
          <a:xfrm>
            <a:off x="9643628" y="1783080"/>
            <a:ext cx="1999427" cy="2103120"/>
          </a:xfrm>
          <a:prstGeom prst="roundRect">
            <a:avLst>
              <a:gd name="adj" fmla="val 6403"/>
            </a:avLst>
          </a:prstGeom>
          <a:solidFill>
            <a:srgbClr val="FFFFFF"/>
          </a:solidFill>
          <a:ln w="9525">
            <a:solidFill>
              <a:srgbClr val="E4DED9"/>
            </a:solidFill>
            <a:prstDash val="solid"/>
          </a:ln>
        </p:spPr>
      </p:sp>
      <p:sp>
        <p:nvSpPr>
          <p:cNvPr id="35" name="Tag 74"/>
          <p:cNvSpPr txBox="1"/>
          <p:nvPr/>
        </p:nvSpPr>
        <p:spPr>
          <a:xfrm>
            <a:off x="9826508" y="1965960"/>
            <a:ext cx="1633667" cy="201168"/>
          </a:xfrm>
          <a:prstGeom prst="rect">
            <a:avLst/>
          </a:prstGeom>
          <a:noFill/>
          <a:ln/>
        </p:spPr>
        <p:txBody>
          <a:bodyPr wrap="square" lIns="0" tIns="0" rIns="0" bIns="0" rtlCol="0" anchor="ctr"/>
          <a:lstStyle/>
          <a:p>
            <a:pPr indent="0" marL="0">
              <a:buNone/>
            </a:pPr>
            <a:r>
              <a:rPr lang="en-US" sz="900" b="1" spc="150" kern="0" dirty="0">
                <a:solidFill>
                  <a:schemeClr val="accent2"/>
                </a:solidFill>
              </a:rPr>
              <a:t>DEBRIEFING</a:t>
            </a:r>
            <a:endParaRPr lang="en-US" sz="900" dirty="0"/>
          </a:p>
        </p:txBody>
      </p:sp>
      <p:sp>
        <p:nvSpPr>
          <p:cNvPr id="36" name="Card title 75"/>
          <p:cNvSpPr txBox="1"/>
          <p:nvPr/>
        </p:nvSpPr>
        <p:spPr>
          <a:xfrm>
            <a:off x="9826508" y="2203704"/>
            <a:ext cx="1633667" cy="256032"/>
          </a:xfrm>
          <a:prstGeom prst="rect">
            <a:avLst/>
          </a:prstGeom>
          <a:noFill/>
          <a:ln/>
        </p:spPr>
        <p:txBody>
          <a:bodyPr wrap="square" lIns="0" tIns="0" rIns="0" bIns="0" rtlCol="0" anchor="t"/>
          <a:lstStyle/>
          <a:p>
            <a:pPr indent="0" marL="0">
              <a:buNone/>
            </a:pPr>
            <a:r>
              <a:rPr lang="en-US" sz="1300" b="1" dirty="0">
                <a:solidFill>
                  <a:schemeClr val="tx1"/>
                </a:solidFill>
              </a:rPr>
              <a:t>Reflect</a:t>
            </a:r>
            <a:endParaRPr lang="en-US" sz="1300" dirty="0"/>
          </a:p>
        </p:txBody>
      </p:sp>
      <p:sp>
        <p:nvSpPr>
          <p:cNvPr id="37" name="Card text 76"/>
          <p:cNvSpPr txBox="1"/>
          <p:nvPr/>
        </p:nvSpPr>
        <p:spPr>
          <a:xfrm>
            <a:off x="9826508" y="2532888"/>
            <a:ext cx="1633667" cy="1170432"/>
          </a:xfrm>
          <a:prstGeom prst="rect">
            <a:avLst/>
          </a:prstGeom>
          <a:noFill/>
          <a:ln/>
        </p:spPr>
        <p:txBody>
          <a:bodyPr wrap="square" lIns="0" tIns="0" rIns="0" bIns="0" rtlCol="0" anchor="t"/>
          <a:lstStyle/>
          <a:p>
            <a:pPr indent="0" marL="0">
              <a:spcAft>
                <a:spcPts val="400"/>
              </a:spcAft>
              <a:buNone/>
            </a:pPr>
            <a:r>
              <a:rPr lang="en-US" sz="1100" dirty="0">
                <a:solidFill>
                  <a:schemeClr val="accent5"/>
                </a:solidFill>
              </a:rPr>
              <a:t>What did you notice first? What would be hardest to spot on a busy real visit? Score shown.</a:t>
            </a:r>
            <a:endParaRPr lang="en-US" sz="1100" dirty="0"/>
          </a:p>
        </p:txBody>
      </p:sp>
      <p:sp>
        <p:nvSpPr>
          <p:cNvPr id="38" name="Card 77"/>
          <p:cNvSpPr/>
          <p:nvPr/>
        </p:nvSpPr>
        <p:spPr>
          <a:xfrm>
            <a:off x="548640" y="4114800"/>
            <a:ext cx="5432908" cy="2011680"/>
          </a:xfrm>
          <a:prstGeom prst="roundRect">
            <a:avLst>
              <a:gd name="adj" fmla="val 6364"/>
            </a:avLst>
          </a:prstGeom>
          <a:solidFill>
            <a:srgbClr val="FFFFFF"/>
          </a:solidFill>
          <a:ln w="9525">
            <a:solidFill>
              <a:srgbClr val="E4DED9"/>
            </a:solidFill>
            <a:prstDash val="solid"/>
          </a:ln>
        </p:spPr>
      </p:sp>
      <p:sp>
        <p:nvSpPr>
          <p:cNvPr id="39" name="Card title 78"/>
          <p:cNvSpPr txBox="1"/>
          <p:nvPr/>
        </p:nvSpPr>
        <p:spPr>
          <a:xfrm>
            <a:off x="731520" y="4297680"/>
            <a:ext cx="5067148" cy="310896"/>
          </a:xfrm>
          <a:prstGeom prst="rect">
            <a:avLst/>
          </a:prstGeom>
          <a:noFill/>
          <a:ln/>
        </p:spPr>
        <p:txBody>
          <a:bodyPr wrap="square" lIns="0" tIns="0" rIns="0" bIns="0" rtlCol="0" anchor="t"/>
          <a:lstStyle/>
          <a:p>
            <a:pPr indent="0" marL="0">
              <a:buNone/>
            </a:pPr>
            <a:r>
              <a:rPr lang="en-US" sz="1500" b="1" dirty="0">
                <a:solidFill>
                  <a:schemeClr val="tx1"/>
                </a:solidFill>
              </a:rPr>
              <a:t>Rules the AI follows</a:t>
            </a:r>
            <a:endParaRPr lang="en-US" sz="1500" dirty="0"/>
          </a:p>
        </p:txBody>
      </p:sp>
      <p:sp>
        <p:nvSpPr>
          <p:cNvPr id="40" name="Card bullets 79"/>
          <p:cNvSpPr txBox="1"/>
          <p:nvPr/>
        </p:nvSpPr>
        <p:spPr>
          <a:xfrm>
            <a:off x="731520" y="4681728"/>
            <a:ext cx="5067148" cy="1261872"/>
          </a:xfrm>
          <a:prstGeom prst="rect">
            <a:avLst/>
          </a:prstGeom>
          <a:noFill/>
          <a:ln/>
        </p:spPr>
        <p:txBody>
          <a:bodyPr wrap="square" lIns="0" tIns="0" rIns="0" bIns="0" rtlCol="0" anchor="t"/>
          <a:lstStyle/>
          <a:p>
            <a:pPr marL="165100" indent="-165100">
              <a:spcAft>
                <a:spcPts val="500"/>
              </a:spcAft>
              <a:buSzPct val="100000"/>
              <a:buChar char="●"/>
            </a:pPr>
            <a:r>
              <a:rPr lang="en-US" sz="1300" dirty="0">
                <a:solidFill>
                  <a:schemeClr val="accent5"/>
                </a:solidFill>
              </a:rPr>
              <a:t>At least one decision where the choice has a consequence</a:t>
            </a:r>
            <a:endParaRPr lang="en-US" sz="1300" dirty="0"/>
          </a:p>
          <a:p>
            <a:pPr marL="165100" indent="-165100">
              <a:spcAft>
                <a:spcPts val="500"/>
              </a:spcAft>
              <a:buSzPct val="100000"/>
              <a:buChar char="●"/>
            </a:pPr>
            <a:r>
              <a:rPr lang="en-US" sz="1300" dirty="0">
                <a:solidFill>
                  <a:schemeClr val="accent5"/>
                </a:solidFill>
              </a:rPr>
              <a:t>A wrong choice shows its consequence, not only "wrong, try again"</a:t>
            </a:r>
            <a:endParaRPr lang="en-US" sz="1300" dirty="0"/>
          </a:p>
          <a:p>
            <a:pPr marL="165100" indent="-165100">
              <a:spcAft>
                <a:spcPts val="500"/>
              </a:spcAft>
              <a:buSzPct val="100000"/>
              <a:buChar char="●"/>
            </a:pPr>
            <a:r>
              <a:rPr lang="en-US" sz="1300" dirty="0">
                <a:solidFill>
                  <a:schemeClr val="accent5"/>
                </a:solidFill>
              </a:rPr>
              <a:t>A debriefing with open reflection questions</a:t>
            </a:r>
            <a:endParaRPr lang="en-US" sz="1300" dirty="0"/>
          </a:p>
          <a:p>
            <a:pPr marL="165100" indent="-165100">
              <a:spcAft>
                <a:spcPts val="500"/>
              </a:spcAft>
              <a:buSzPct val="100000"/>
              <a:buChar char="●"/>
            </a:pPr>
            <a:r>
              <a:rPr lang="en-US" sz="1300" dirty="0">
                <a:solidFill>
                  <a:schemeClr val="accent5"/>
                </a:solidFill>
              </a:rPr>
              <a:t>Short texts: two or three sentences per pop-up</a:t>
            </a:r>
            <a:endParaRPr lang="en-US" sz="1300" dirty="0"/>
          </a:p>
        </p:txBody>
      </p:sp>
      <p:sp>
        <p:nvSpPr>
          <p:cNvPr id="41" name="Card 80"/>
          <p:cNvSpPr/>
          <p:nvPr/>
        </p:nvSpPr>
        <p:spPr>
          <a:xfrm>
            <a:off x="6210148" y="4114800"/>
            <a:ext cx="5432908" cy="2011680"/>
          </a:xfrm>
          <a:prstGeom prst="roundRect">
            <a:avLst>
              <a:gd name="adj" fmla="val 6364"/>
            </a:avLst>
          </a:prstGeom>
          <a:solidFill>
            <a:srgbClr val="E3F6F0"/>
          </a:solidFill>
          <a:ln w="9525">
            <a:solidFill>
              <a:srgbClr val="A8E3D3"/>
            </a:solidFill>
            <a:prstDash val="solid"/>
          </a:ln>
        </p:spPr>
      </p:sp>
      <p:sp>
        <p:nvSpPr>
          <p:cNvPr id="42" name="Card title 81"/>
          <p:cNvSpPr txBox="1"/>
          <p:nvPr/>
        </p:nvSpPr>
        <p:spPr>
          <a:xfrm>
            <a:off x="6393028" y="4297680"/>
            <a:ext cx="5067148" cy="310896"/>
          </a:xfrm>
          <a:prstGeom prst="rect">
            <a:avLst/>
          </a:prstGeom>
          <a:noFill/>
          <a:ln/>
        </p:spPr>
        <p:txBody>
          <a:bodyPr wrap="square" lIns="0" tIns="0" rIns="0" bIns="0" rtlCol="0" anchor="t"/>
          <a:lstStyle/>
          <a:p>
            <a:pPr indent="0" marL="0">
              <a:buNone/>
            </a:pPr>
            <a:r>
              <a:rPr lang="en-US" sz="1500" b="1" dirty="0">
                <a:solidFill>
                  <a:schemeClr val="tx1"/>
                </a:solidFill>
              </a:rPr>
              <a:t>The teacher approves the plan</a:t>
            </a:r>
            <a:endParaRPr lang="en-US" sz="1500" dirty="0"/>
          </a:p>
        </p:txBody>
      </p:sp>
      <p:sp>
        <p:nvSpPr>
          <p:cNvPr id="43" name="Card text 82"/>
          <p:cNvSpPr txBox="1"/>
          <p:nvPr/>
        </p:nvSpPr>
        <p:spPr>
          <a:xfrm>
            <a:off x="6393028" y="4681728"/>
            <a:ext cx="5067148" cy="126187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The plan names the task type of each scene and why it was chosen. Generation does not start until the teacher has read and approved it. Changes are made in the plan first.</a:t>
            </a:r>
            <a:endParaRPr lang="en-US" sz="1300" dirty="0"/>
          </a:p>
        </p:txBody>
      </p:sp>
      <p:sp>
        <p:nvSpPr>
          <p:cNvPr id="44"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The AI builds the 360° environment</a:t>
            </a:r>
            <a:endParaRPr lang="en-US" sz="3000" dirty="0"/>
          </a:p>
        </p:txBody>
      </p:sp>
      <p:sp>
        <p:nvSpPr>
          <p:cNvPr id="4" name="Step bar 83"/>
          <p:cNvSpPr/>
          <p:nvPr/>
        </p:nvSpPr>
        <p:spPr>
          <a:xfrm>
            <a:off x="548640" y="201168"/>
            <a:ext cx="2109155" cy="45720"/>
          </a:xfrm>
          <a:prstGeom prst="rect">
            <a:avLst/>
          </a:prstGeom>
          <a:solidFill>
            <a:srgbClr val="99B7BA"/>
          </a:solidFill>
          <a:ln/>
        </p:spPr>
      </p:sp>
      <p:sp>
        <p:nvSpPr>
          <p:cNvPr id="5" name="Step label 84"/>
          <p:cNvSpPr txBox="1"/>
          <p:nvPr/>
        </p:nvSpPr>
        <p:spPr>
          <a:xfrm>
            <a:off x="548640"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1</a:t>
            </a:r>
            <a:endParaRPr lang="en-US" sz="800" dirty="0"/>
          </a:p>
          <a:p>
            <a:pPr indent="0" marL="0">
              <a:buNone/>
            </a:pPr>
            <a:r>
              <a:rPr lang="en-US" sz="1100" b="1" dirty="0">
                <a:solidFill>
                  <a:schemeClr val="accent3"/>
                </a:solidFill>
              </a:rPr>
              <a:t>Describe</a:t>
            </a:r>
            <a:endParaRPr lang="en-US" sz="800" dirty="0"/>
          </a:p>
        </p:txBody>
      </p:sp>
      <p:sp>
        <p:nvSpPr>
          <p:cNvPr id="6" name="Step bar 85"/>
          <p:cNvSpPr/>
          <p:nvPr/>
        </p:nvSpPr>
        <p:spPr>
          <a:xfrm>
            <a:off x="2794955" y="201168"/>
            <a:ext cx="2109155" cy="45720"/>
          </a:xfrm>
          <a:prstGeom prst="rect">
            <a:avLst/>
          </a:prstGeom>
          <a:solidFill>
            <a:srgbClr val="99B7BA"/>
          </a:solidFill>
          <a:ln/>
        </p:spPr>
      </p:sp>
      <p:sp>
        <p:nvSpPr>
          <p:cNvPr id="7" name="Step label 86"/>
          <p:cNvSpPr txBox="1"/>
          <p:nvPr/>
        </p:nvSpPr>
        <p:spPr>
          <a:xfrm>
            <a:off x="2794955"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2</a:t>
            </a:r>
            <a:endParaRPr lang="en-US" sz="800" dirty="0"/>
          </a:p>
          <a:p>
            <a:pPr indent="0" marL="0">
              <a:buNone/>
            </a:pPr>
            <a:r>
              <a:rPr lang="en-US" sz="1100" b="1" dirty="0">
                <a:solidFill>
                  <a:schemeClr val="accent3"/>
                </a:solidFill>
              </a:rPr>
              <a:t>Plan</a:t>
            </a:r>
            <a:endParaRPr lang="en-US" sz="800" dirty="0"/>
          </a:p>
        </p:txBody>
      </p:sp>
      <p:sp>
        <p:nvSpPr>
          <p:cNvPr id="8" name="Step bar 87"/>
          <p:cNvSpPr/>
          <p:nvPr/>
        </p:nvSpPr>
        <p:spPr>
          <a:xfrm>
            <a:off x="5041270" y="201168"/>
            <a:ext cx="2109155" cy="45720"/>
          </a:xfrm>
          <a:prstGeom prst="rect">
            <a:avLst/>
          </a:prstGeom>
          <a:solidFill>
            <a:srgbClr val="0CD0A4"/>
          </a:solidFill>
          <a:ln/>
        </p:spPr>
      </p:sp>
      <p:sp>
        <p:nvSpPr>
          <p:cNvPr id="9" name="Step label 88"/>
          <p:cNvSpPr txBox="1"/>
          <p:nvPr/>
        </p:nvSpPr>
        <p:spPr>
          <a:xfrm>
            <a:off x="5041270"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3</a:t>
            </a:r>
            <a:endParaRPr lang="en-US" sz="800" dirty="0"/>
          </a:p>
          <a:p>
            <a:pPr indent="0" marL="0">
              <a:buNone/>
            </a:pPr>
            <a:r>
              <a:rPr lang="en-US" sz="1100" b="1" dirty="0">
                <a:solidFill>
                  <a:schemeClr val="accent3"/>
                </a:solidFill>
              </a:rPr>
              <a:t>Build</a:t>
            </a:r>
            <a:endParaRPr lang="en-US" sz="800" dirty="0"/>
          </a:p>
        </p:txBody>
      </p:sp>
      <p:sp>
        <p:nvSpPr>
          <p:cNvPr id="10" name="Step bar 89"/>
          <p:cNvSpPr/>
          <p:nvPr/>
        </p:nvSpPr>
        <p:spPr>
          <a:xfrm>
            <a:off x="7287585" y="201168"/>
            <a:ext cx="2109155" cy="45720"/>
          </a:xfrm>
          <a:prstGeom prst="rect">
            <a:avLst/>
          </a:prstGeom>
          <a:solidFill>
            <a:srgbClr val="E4DED9"/>
          </a:solidFill>
          <a:ln/>
        </p:spPr>
      </p:sp>
      <p:sp>
        <p:nvSpPr>
          <p:cNvPr id="11" name="Step label 90"/>
          <p:cNvSpPr txBox="1"/>
          <p:nvPr/>
        </p:nvSpPr>
        <p:spPr>
          <a:xfrm>
            <a:off x="7287585" y="274320"/>
            <a:ext cx="2109155" cy="402336"/>
          </a:xfrm>
          <a:prstGeom prst="rect">
            <a:avLst/>
          </a:prstGeom>
          <a:noFill/>
          <a:ln/>
        </p:spPr>
        <p:txBody>
          <a:bodyPr wrap="square" lIns="0" tIns="0" rIns="0" bIns="0" rtlCol="0" anchor="t"/>
          <a:lstStyle/>
          <a:p>
            <a:pPr indent="0" marL="0">
              <a:buNone/>
            </a:pPr>
            <a:r>
              <a:rPr lang="en-US" sz="800" b="1" spc="150" kern="0" dirty="0">
                <a:solidFill>
                  <a:srgbClr val="7D8C8F"/>
                </a:solidFill>
              </a:rPr>
              <a:t>STEP 4</a:t>
            </a:r>
            <a:endParaRPr lang="en-US" sz="800" dirty="0"/>
          </a:p>
          <a:p>
            <a:pPr indent="0" marL="0">
              <a:buNone/>
            </a:pPr>
            <a:r>
              <a:rPr lang="en-US" sz="1100" b="1" dirty="0">
                <a:solidFill>
                  <a:srgbClr val="7D8C8F"/>
                </a:solidFill>
              </a:rPr>
              <a:t>Check and review</a:t>
            </a:r>
            <a:endParaRPr lang="en-US" sz="800" dirty="0"/>
          </a:p>
        </p:txBody>
      </p:sp>
      <p:sp>
        <p:nvSpPr>
          <p:cNvPr id="12" name="Step bar 91"/>
          <p:cNvSpPr/>
          <p:nvPr/>
        </p:nvSpPr>
        <p:spPr>
          <a:xfrm>
            <a:off x="9533900" y="201168"/>
            <a:ext cx="2109155" cy="45720"/>
          </a:xfrm>
          <a:prstGeom prst="rect">
            <a:avLst/>
          </a:prstGeom>
          <a:solidFill>
            <a:srgbClr val="E4DED9"/>
          </a:solidFill>
          <a:ln/>
        </p:spPr>
      </p:sp>
      <p:sp>
        <p:nvSpPr>
          <p:cNvPr id="13" name="Step label 92"/>
          <p:cNvSpPr txBox="1"/>
          <p:nvPr/>
        </p:nvSpPr>
        <p:spPr>
          <a:xfrm>
            <a:off x="9533900" y="274320"/>
            <a:ext cx="2109155" cy="402336"/>
          </a:xfrm>
          <a:prstGeom prst="rect">
            <a:avLst/>
          </a:prstGeom>
          <a:noFill/>
          <a:ln/>
        </p:spPr>
        <p:txBody>
          <a:bodyPr wrap="square" lIns="0" tIns="0" rIns="0" bIns="0" rtlCol="0" anchor="t"/>
          <a:lstStyle/>
          <a:p>
            <a:pPr indent="0" marL="0">
              <a:buNone/>
            </a:pPr>
            <a:r>
              <a:rPr lang="en-US" sz="800" b="1" spc="150" kern="0" dirty="0">
                <a:solidFill>
                  <a:srgbClr val="7D8C8F"/>
                </a:solidFill>
              </a:rPr>
              <a:t>STEP 5</a:t>
            </a:r>
            <a:endParaRPr lang="en-US" sz="800" dirty="0"/>
          </a:p>
          <a:p>
            <a:pPr indent="0" marL="0">
              <a:buNone/>
            </a:pPr>
            <a:r>
              <a:rPr lang="en-US" sz="1100" b="1" dirty="0">
                <a:solidFill>
                  <a:srgbClr val="7D8C8F"/>
                </a:solidFill>
              </a:rPr>
              <a:t>Publish</a:t>
            </a:r>
            <a:endParaRPr lang="en-US" sz="800" dirty="0"/>
          </a:p>
        </p:txBody>
      </p:sp>
      <p:pic>
        <p:nvPicPr>
          <p:cNvPr id="14" name="Screenshot 93" descr="Briefing scene of the 360° simulation: a Finnish living room with the title Acute deterioration in home care and an activating question">    </p:cNvPr>
          <p:cNvPicPr>
            <a:picLocks noChangeAspect="1"/>
          </p:cNvPicPr>
          <p:nvPr/>
        </p:nvPicPr>
        <p:blipFill>
          <a:blip r:embed="rId1"/>
          <a:srcRect l="0" r="0" t="0" b="0"/>
          <a:stretch/>
        </p:blipFill>
        <p:spPr>
          <a:xfrm>
            <a:off x="548640" y="1783080"/>
            <a:ext cx="5577840" cy="1783080"/>
          </a:xfrm>
          <a:prstGeom prst="rect">
            <a:avLst/>
          </a:prstGeom>
        </p:spPr>
      </p:pic>
      <p:sp>
        <p:nvSpPr>
          <p:cNvPr id="15" name="Caption 94"/>
          <p:cNvSpPr txBox="1"/>
          <p:nvPr/>
        </p:nvSpPr>
        <p:spPr>
          <a:xfrm>
            <a:off x="548640" y="3602736"/>
            <a:ext cx="5577840" cy="237744"/>
          </a:xfrm>
          <a:prstGeom prst="rect">
            <a:avLst/>
          </a:prstGeom>
          <a:noFill/>
          <a:ln/>
        </p:spPr>
        <p:txBody>
          <a:bodyPr wrap="square" lIns="0" tIns="0" rIns="0" bIns="0" rtlCol="0" anchor="ctr"/>
          <a:lstStyle/>
          <a:p>
            <a:pPr indent="0" marL="0">
              <a:buNone/>
            </a:pPr>
            <a:r>
              <a:rPr lang="en-US" sz="1000" dirty="0">
                <a:solidFill>
                  <a:srgbClr val="7D8C8F"/>
                </a:solidFill>
              </a:rPr>
              <a:t>Briefing scene, English version</a:t>
            </a:r>
            <a:endParaRPr lang="en-US" sz="1000" dirty="0"/>
          </a:p>
        </p:txBody>
      </p:sp>
      <p:pic>
        <p:nvPicPr>
          <p:cNvPr id="16" name="Screenshot 95" descr="360° view of the living room: the client in an armchair, a weekly pill organiser on the side table and a coffee cup on the floor">    </p:cNvPr>
          <p:cNvPicPr>
            <a:picLocks noChangeAspect="1"/>
          </p:cNvPicPr>
          <p:nvPr/>
        </p:nvPicPr>
        <p:blipFill>
          <a:blip r:embed="rId2"/>
          <a:srcRect l="0" r="0" t="0" b="0"/>
          <a:stretch/>
        </p:blipFill>
        <p:spPr>
          <a:xfrm>
            <a:off x="548640" y="3950208"/>
            <a:ext cx="5577840" cy="1783080"/>
          </a:xfrm>
          <a:prstGeom prst="rect">
            <a:avLst/>
          </a:prstGeom>
        </p:spPr>
      </p:pic>
      <p:sp>
        <p:nvSpPr>
          <p:cNvPr id="17" name="Caption 96"/>
          <p:cNvSpPr txBox="1"/>
          <p:nvPr/>
        </p:nvSpPr>
        <p:spPr>
          <a:xfrm>
            <a:off x="548640" y="5769864"/>
            <a:ext cx="5577840" cy="237744"/>
          </a:xfrm>
          <a:prstGeom prst="rect">
            <a:avLst/>
          </a:prstGeom>
          <a:noFill/>
          <a:ln/>
        </p:spPr>
        <p:txBody>
          <a:bodyPr wrap="square" lIns="0" tIns="0" rIns="0" bIns="0" rtlCol="0" anchor="ctr"/>
          <a:lstStyle/>
          <a:p>
            <a:pPr indent="0" marL="0">
              <a:buNone/>
            </a:pPr>
            <a:r>
              <a:rPr lang="en-US" sz="1000" dirty="0">
                <a:solidFill>
                  <a:srgbClr val="7D8C8F"/>
                </a:solidFill>
              </a:rPr>
              <a:t>Exploring: pill organiser, spilled coffee, the client</a:t>
            </a:r>
            <a:endParaRPr lang="en-US" sz="1000" dirty="0"/>
          </a:p>
        </p:txBody>
      </p:sp>
      <p:sp>
        <p:nvSpPr>
          <p:cNvPr id="18" name="Card 97"/>
          <p:cNvSpPr/>
          <p:nvPr/>
        </p:nvSpPr>
        <p:spPr>
          <a:xfrm>
            <a:off x="6446520" y="1783080"/>
            <a:ext cx="5196535" cy="4251960"/>
          </a:xfrm>
          <a:prstGeom prst="roundRect">
            <a:avLst>
              <a:gd name="adj" fmla="val 3011"/>
            </a:avLst>
          </a:prstGeom>
          <a:solidFill>
            <a:srgbClr val="FFFFFF"/>
          </a:solidFill>
          <a:ln w="9525">
            <a:solidFill>
              <a:srgbClr val="E4DED9"/>
            </a:solidFill>
            <a:prstDash val="solid"/>
          </a:ln>
        </p:spPr>
      </p:sp>
      <p:sp>
        <p:nvSpPr>
          <p:cNvPr id="19" name="Card bullets 98"/>
          <p:cNvSpPr txBox="1"/>
          <p:nvPr/>
        </p:nvSpPr>
        <p:spPr>
          <a:xfrm>
            <a:off x="6629400" y="1965960"/>
            <a:ext cx="4830775" cy="3337560"/>
          </a:xfrm>
          <a:prstGeom prst="rect">
            <a:avLst/>
          </a:prstGeom>
          <a:noFill/>
          <a:ln/>
        </p:spPr>
        <p:txBody>
          <a:bodyPr wrap="square" lIns="0" tIns="0" rIns="0" bIns="0" rtlCol="0" anchor="t"/>
          <a:lstStyle/>
          <a:p>
            <a:pPr marL="165100" indent="-165100">
              <a:spcAft>
                <a:spcPts val="500"/>
              </a:spcAft>
              <a:buSzPct val="100000"/>
              <a:buChar char="●"/>
            </a:pPr>
            <a:r>
              <a:rPr lang="en-US" sz="1300" b="1" dirty="0">
                <a:solidFill>
                  <a:schemeClr val="tx1"/>
                </a:solidFill>
              </a:rPr>
              <a:t>360° panoramas</a:t>
            </a:r>
            <a:pPr indent="0" marL="0">
              <a:buNone/>
            </a:pPr>
            <a:r>
              <a:rPr lang="en-US" sz="1300" dirty="0">
                <a:solidFill>
                  <a:schemeClr val="accent5"/>
                </a:solidFill>
              </a:rPr>
              <a:t> are generated from the approved plan by an image model</a:t>
            </a:r>
            <a:endParaRPr lang="en-US" sz="1300" dirty="0"/>
          </a:p>
          <a:p>
            <a:pPr marL="165100" indent="-165100">
              <a:spcAft>
                <a:spcPts val="500"/>
              </a:spcAft>
              <a:buSzPct val="100000"/>
              <a:buChar char="●"/>
            </a:pPr>
            <a:r>
              <a:rPr lang="en-US" sz="1300" b="1" dirty="0">
                <a:solidFill>
                  <a:schemeClr val="tx1"/>
                </a:solidFill>
              </a:rPr>
              <a:t>Image recognition</a:t>
            </a:r>
            <a:pPr indent="0" marL="0">
              <a:buNone/>
            </a:pPr>
            <a:r>
              <a:rPr lang="en-US" sz="1300" dirty="0">
                <a:solidFill>
                  <a:schemeClr val="accent5"/>
                </a:solidFill>
              </a:rPr>
              <a:t> finds the clue objects in each panorama and places the hotspots on them: today's untouched medication, the fallen cane, the spilled coffee, Aino herself</a:t>
            </a:r>
            <a:endParaRPr lang="en-US" sz="1300" dirty="0"/>
          </a:p>
          <a:p>
            <a:pPr marL="165100" indent="-165100">
              <a:spcAft>
                <a:spcPts val="500"/>
              </a:spcAft>
              <a:buSzPct val="100000"/>
              <a:buChar char="●"/>
            </a:pPr>
            <a:r>
              <a:rPr lang="en-US" sz="1300" b="1" dirty="0">
                <a:solidFill>
                  <a:schemeClr val="tx1"/>
                </a:solidFill>
              </a:rPr>
              <a:t>Voices:</a:t>
            </a:r>
            <a:pPr indent="0" marL="0">
              <a:buNone/>
            </a:pPr>
            <a:r>
              <a:rPr lang="en-US" sz="1300" dirty="0">
                <a:solidFill>
                  <a:schemeClr val="accent5"/>
                </a:solidFill>
              </a:rPr>
              <a:t> a narrator for each scene, and here a speaking patient: "Oh… I feel so dizzy… and I can't grip with my right hand."</a:t>
            </a:r>
            <a:endParaRPr lang="en-US" sz="1300" dirty="0"/>
          </a:p>
          <a:p>
            <a:pPr marL="165100" indent="-165100">
              <a:spcAft>
                <a:spcPts val="500"/>
              </a:spcAft>
              <a:buSzPct val="100000"/>
              <a:buChar char="●"/>
            </a:pPr>
            <a:r>
              <a:rPr lang="en-US" sz="1300" b="1" dirty="0">
                <a:solidFill>
                  <a:schemeClr val="tx1"/>
                </a:solidFill>
              </a:rPr>
              <a:t>Five languages</a:t>
            </a:r>
            <a:pPr indent="0" marL="0">
              <a:buNone/>
            </a:pPr>
            <a:r>
              <a:rPr lang="en-US" sz="1300" dirty="0">
                <a:solidFill>
                  <a:schemeClr val="accent5"/>
                </a:solidFill>
              </a:rPr>
              <a:t>, text and voice: Finnish, English, German, Spanish, Croatian</a:t>
            </a:r>
            <a:endParaRPr lang="en-US" sz="1300" dirty="0"/>
          </a:p>
          <a:p>
            <a:pPr marL="165100" indent="-165100">
              <a:spcAft>
                <a:spcPts val="500"/>
              </a:spcAft>
              <a:buSzPct val="100000"/>
              <a:buChar char="●"/>
            </a:pPr>
            <a:r>
              <a:rPr lang="en-US" sz="1300" b="1" dirty="0">
                <a:solidFill>
                  <a:schemeClr val="tx1"/>
                </a:solidFill>
              </a:rPr>
              <a:t>Small fixes</a:t>
            </a:r>
            <a:pPr indent="0" marL="0">
              <a:buNone/>
            </a:pPr>
            <a:r>
              <a:rPr lang="en-US" sz="1300" dirty="0">
                <a:solidFill>
                  <a:schemeClr val="accent5"/>
                </a:solidFill>
              </a:rPr>
              <a:t> without starting over: the teacher marks an area in the image and only that area is redrawn</a:t>
            </a:r>
            <a:endParaRPr lang="en-US" sz="1300" dirty="0"/>
          </a:p>
        </p:txBody>
      </p:sp>
      <p:sp>
        <p:nvSpPr>
          <p:cNvPr id="20" name="Button 99">
            <a:hlinkClick r:id="rId3" tooltip="https://s360.simuna.io/nexr/nursing-home/index.html"/>
          </p:cNvPr>
          <p:cNvSpPr txBox="1"/>
          <p:nvPr/>
        </p:nvSpPr>
        <p:spPr>
          <a:xfrm>
            <a:off x="6629400" y="5486400"/>
            <a:ext cx="2377440"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u="none" dirty="0">
                <a:solidFill>
                  <a:schemeClr val="bg1"/>
                </a:solidFill>
                <a:hlinkClick r:id="rId3" invalidUrl="" action="" tgtFrame="" tooltip="https://s360.simuna.io/nexr/nursing-home/index.html" history="1" highlightClick="0" endSnd="0">
                  <a:extLst>
                    <a:ext uri="{A12FA001-AC4F-418D-AE19-62706E023703}">
                      <ahyp:hlinkClr xmlns:ahyp="http://schemas.microsoft.com/office/drawing/2018/hyperlinkcolor" val="tx"/>
                    </a:ext>
                  </a:extLst>
                </a:hlinkClick>
              </a:rPr>
              <a:t>Open the environment →</a:t>
            </a:r>
            <a:endParaRPr lang="en-US" sz="1200" dirty="0"/>
          </a:p>
        </p:txBody>
      </p:sp>
      <p:sp>
        <p:nvSpPr>
          <p:cNvPr id="21"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Checked by machine, reviewed by people, then published</a:t>
            </a:r>
            <a:endParaRPr lang="en-US" sz="3000" dirty="0"/>
          </a:p>
        </p:txBody>
      </p:sp>
      <p:sp>
        <p:nvSpPr>
          <p:cNvPr id="4" name="Step bar 100"/>
          <p:cNvSpPr/>
          <p:nvPr/>
        </p:nvSpPr>
        <p:spPr>
          <a:xfrm>
            <a:off x="548640" y="201168"/>
            <a:ext cx="2109155" cy="45720"/>
          </a:xfrm>
          <a:prstGeom prst="rect">
            <a:avLst/>
          </a:prstGeom>
          <a:solidFill>
            <a:srgbClr val="99B7BA"/>
          </a:solidFill>
          <a:ln/>
        </p:spPr>
      </p:sp>
      <p:sp>
        <p:nvSpPr>
          <p:cNvPr id="5" name="Step label 101"/>
          <p:cNvSpPr txBox="1"/>
          <p:nvPr/>
        </p:nvSpPr>
        <p:spPr>
          <a:xfrm>
            <a:off x="548640"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1</a:t>
            </a:r>
            <a:endParaRPr lang="en-US" sz="800" dirty="0"/>
          </a:p>
          <a:p>
            <a:pPr indent="0" marL="0">
              <a:buNone/>
            </a:pPr>
            <a:r>
              <a:rPr lang="en-US" sz="1100" b="1" dirty="0">
                <a:solidFill>
                  <a:schemeClr val="accent3"/>
                </a:solidFill>
              </a:rPr>
              <a:t>Describe</a:t>
            </a:r>
            <a:endParaRPr lang="en-US" sz="800" dirty="0"/>
          </a:p>
        </p:txBody>
      </p:sp>
      <p:sp>
        <p:nvSpPr>
          <p:cNvPr id="6" name="Step bar 102"/>
          <p:cNvSpPr/>
          <p:nvPr/>
        </p:nvSpPr>
        <p:spPr>
          <a:xfrm>
            <a:off x="2794955" y="201168"/>
            <a:ext cx="2109155" cy="45720"/>
          </a:xfrm>
          <a:prstGeom prst="rect">
            <a:avLst/>
          </a:prstGeom>
          <a:solidFill>
            <a:srgbClr val="99B7BA"/>
          </a:solidFill>
          <a:ln/>
        </p:spPr>
      </p:sp>
      <p:sp>
        <p:nvSpPr>
          <p:cNvPr id="7" name="Step label 103"/>
          <p:cNvSpPr txBox="1"/>
          <p:nvPr/>
        </p:nvSpPr>
        <p:spPr>
          <a:xfrm>
            <a:off x="2794955"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2</a:t>
            </a:r>
            <a:endParaRPr lang="en-US" sz="800" dirty="0"/>
          </a:p>
          <a:p>
            <a:pPr indent="0" marL="0">
              <a:buNone/>
            </a:pPr>
            <a:r>
              <a:rPr lang="en-US" sz="1100" b="1" dirty="0">
                <a:solidFill>
                  <a:schemeClr val="accent3"/>
                </a:solidFill>
              </a:rPr>
              <a:t>Plan</a:t>
            </a:r>
            <a:endParaRPr lang="en-US" sz="800" dirty="0"/>
          </a:p>
        </p:txBody>
      </p:sp>
      <p:sp>
        <p:nvSpPr>
          <p:cNvPr id="8" name="Step bar 104"/>
          <p:cNvSpPr/>
          <p:nvPr/>
        </p:nvSpPr>
        <p:spPr>
          <a:xfrm>
            <a:off x="5041270" y="201168"/>
            <a:ext cx="2109155" cy="45720"/>
          </a:xfrm>
          <a:prstGeom prst="rect">
            <a:avLst/>
          </a:prstGeom>
          <a:solidFill>
            <a:srgbClr val="99B7BA"/>
          </a:solidFill>
          <a:ln/>
        </p:spPr>
      </p:sp>
      <p:sp>
        <p:nvSpPr>
          <p:cNvPr id="9" name="Step label 105"/>
          <p:cNvSpPr txBox="1"/>
          <p:nvPr/>
        </p:nvSpPr>
        <p:spPr>
          <a:xfrm>
            <a:off x="5041270"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3</a:t>
            </a:r>
            <a:endParaRPr lang="en-US" sz="800" dirty="0"/>
          </a:p>
          <a:p>
            <a:pPr indent="0" marL="0">
              <a:buNone/>
            </a:pPr>
            <a:r>
              <a:rPr lang="en-US" sz="1100" b="1" dirty="0">
                <a:solidFill>
                  <a:schemeClr val="accent3"/>
                </a:solidFill>
              </a:rPr>
              <a:t>Build</a:t>
            </a:r>
            <a:endParaRPr lang="en-US" sz="800" dirty="0"/>
          </a:p>
        </p:txBody>
      </p:sp>
      <p:sp>
        <p:nvSpPr>
          <p:cNvPr id="10" name="Step bar 106"/>
          <p:cNvSpPr/>
          <p:nvPr/>
        </p:nvSpPr>
        <p:spPr>
          <a:xfrm>
            <a:off x="7287585" y="201168"/>
            <a:ext cx="2109155" cy="45720"/>
          </a:xfrm>
          <a:prstGeom prst="rect">
            <a:avLst/>
          </a:prstGeom>
          <a:solidFill>
            <a:srgbClr val="0CD0A4"/>
          </a:solidFill>
          <a:ln/>
        </p:spPr>
      </p:sp>
      <p:sp>
        <p:nvSpPr>
          <p:cNvPr id="11" name="Step label 107"/>
          <p:cNvSpPr txBox="1"/>
          <p:nvPr/>
        </p:nvSpPr>
        <p:spPr>
          <a:xfrm>
            <a:off x="7287585"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4</a:t>
            </a:r>
            <a:endParaRPr lang="en-US" sz="800" dirty="0"/>
          </a:p>
          <a:p>
            <a:pPr indent="0" marL="0">
              <a:buNone/>
            </a:pPr>
            <a:r>
              <a:rPr lang="en-US" sz="1100" b="1" dirty="0">
                <a:solidFill>
                  <a:schemeClr val="accent3"/>
                </a:solidFill>
              </a:rPr>
              <a:t>Check and review</a:t>
            </a:r>
            <a:endParaRPr lang="en-US" sz="800" dirty="0"/>
          </a:p>
        </p:txBody>
      </p:sp>
      <p:sp>
        <p:nvSpPr>
          <p:cNvPr id="12" name="Step bar 108"/>
          <p:cNvSpPr/>
          <p:nvPr/>
        </p:nvSpPr>
        <p:spPr>
          <a:xfrm>
            <a:off x="9533900" y="201168"/>
            <a:ext cx="2109155" cy="45720"/>
          </a:xfrm>
          <a:prstGeom prst="rect">
            <a:avLst/>
          </a:prstGeom>
          <a:solidFill>
            <a:srgbClr val="0CD0A4"/>
          </a:solidFill>
          <a:ln/>
        </p:spPr>
      </p:sp>
      <p:sp>
        <p:nvSpPr>
          <p:cNvPr id="13" name="Step label 109"/>
          <p:cNvSpPr txBox="1"/>
          <p:nvPr/>
        </p:nvSpPr>
        <p:spPr>
          <a:xfrm>
            <a:off x="9533900" y="274320"/>
            <a:ext cx="2109155" cy="402336"/>
          </a:xfrm>
          <a:prstGeom prst="rect">
            <a:avLst/>
          </a:prstGeom>
          <a:noFill/>
          <a:ln/>
        </p:spPr>
        <p:txBody>
          <a:bodyPr wrap="square" lIns="0" tIns="0" rIns="0" bIns="0" rtlCol="0" anchor="t"/>
          <a:lstStyle/>
          <a:p>
            <a:pPr indent="0" marL="0">
              <a:buNone/>
            </a:pPr>
            <a:r>
              <a:rPr lang="en-US" sz="800" b="1" spc="150" kern="0" dirty="0">
                <a:solidFill>
                  <a:schemeClr val="accent3"/>
                </a:solidFill>
              </a:rPr>
              <a:t>STEP 5</a:t>
            </a:r>
            <a:endParaRPr lang="en-US" sz="800" dirty="0"/>
          </a:p>
          <a:p>
            <a:pPr indent="0" marL="0">
              <a:buNone/>
            </a:pPr>
            <a:r>
              <a:rPr lang="en-US" sz="1100" b="1" dirty="0">
                <a:solidFill>
                  <a:schemeClr val="accent3"/>
                </a:solidFill>
              </a:rPr>
              <a:t>Publish</a:t>
            </a:r>
            <a:endParaRPr lang="en-US" sz="800" dirty="0"/>
          </a:p>
        </p:txBody>
      </p:sp>
      <p:sp>
        <p:nvSpPr>
          <p:cNvPr id="14" name="Card 110"/>
          <p:cNvSpPr/>
          <p:nvPr/>
        </p:nvSpPr>
        <p:spPr>
          <a:xfrm>
            <a:off x="548640" y="1828800"/>
            <a:ext cx="3545738" cy="3383280"/>
          </a:xfrm>
          <a:prstGeom prst="roundRect">
            <a:avLst>
              <a:gd name="adj" fmla="val 3784"/>
            </a:avLst>
          </a:prstGeom>
          <a:solidFill>
            <a:srgbClr val="FFFFFF"/>
          </a:solidFill>
          <a:ln w="9525">
            <a:solidFill>
              <a:srgbClr val="E4DED9"/>
            </a:solidFill>
            <a:prstDash val="solid"/>
          </a:ln>
        </p:spPr>
      </p:sp>
      <p:sp>
        <p:nvSpPr>
          <p:cNvPr id="15" name="Badge 111"/>
          <p:cNvSpPr txBox="1"/>
          <p:nvPr/>
        </p:nvSpPr>
        <p:spPr>
          <a:xfrm>
            <a:off x="731520" y="2011680"/>
            <a:ext cx="384048" cy="384048"/>
          </a:xfrm>
          <a:prstGeom prst="ellipse">
            <a:avLst/>
          </a:prstGeom>
          <a:solidFill>
            <a:schemeClr val="accent3"/>
          </a:solidFill>
          <a:ln/>
        </p:spPr>
        <p:txBody>
          <a:bodyPr wrap="square" lIns="0" tIns="0" rIns="0" bIns="0" rtlCol="0" anchor="ctr"/>
          <a:lstStyle/>
          <a:p>
            <a:pPr algn="ctr" indent="0" marL="0">
              <a:buNone/>
            </a:pPr>
            <a:r>
              <a:rPr lang="en-US" sz="1100" b="1" dirty="0">
                <a:solidFill>
                  <a:schemeClr val="bg1"/>
                </a:solidFill>
              </a:rPr>
              <a:t>4a</a:t>
            </a:r>
            <a:endParaRPr lang="en-US" sz="1100" dirty="0"/>
          </a:p>
        </p:txBody>
      </p:sp>
      <p:sp>
        <p:nvSpPr>
          <p:cNvPr id="16" name="Card title 112"/>
          <p:cNvSpPr txBox="1"/>
          <p:nvPr/>
        </p:nvSpPr>
        <p:spPr>
          <a:xfrm>
            <a:off x="731520" y="2487168"/>
            <a:ext cx="3179978" cy="310896"/>
          </a:xfrm>
          <a:prstGeom prst="rect">
            <a:avLst/>
          </a:prstGeom>
          <a:noFill/>
          <a:ln/>
        </p:spPr>
        <p:txBody>
          <a:bodyPr wrap="square" lIns="0" tIns="0" rIns="0" bIns="0" rtlCol="0" anchor="t"/>
          <a:lstStyle/>
          <a:p>
            <a:pPr indent="0" marL="0">
              <a:buNone/>
            </a:pPr>
            <a:r>
              <a:rPr lang="en-US" sz="1500" b="1" dirty="0">
                <a:solidFill>
                  <a:schemeClr val="tx1"/>
                </a:solidFill>
              </a:rPr>
              <a:t>Automatic checks</a:t>
            </a:r>
            <a:endParaRPr lang="en-US" sz="1500" dirty="0"/>
          </a:p>
        </p:txBody>
      </p:sp>
      <p:sp>
        <p:nvSpPr>
          <p:cNvPr id="17" name="Card bullets 113"/>
          <p:cNvSpPr txBox="1"/>
          <p:nvPr/>
        </p:nvSpPr>
        <p:spPr>
          <a:xfrm>
            <a:off x="731520" y="2871216"/>
            <a:ext cx="3179978" cy="2157984"/>
          </a:xfrm>
          <a:prstGeom prst="rect">
            <a:avLst/>
          </a:prstGeom>
          <a:noFill/>
          <a:ln/>
        </p:spPr>
        <p:txBody>
          <a:bodyPr wrap="square" lIns="0" tIns="0" rIns="0" bIns="0" rtlCol="0" anchor="t"/>
          <a:lstStyle/>
          <a:p>
            <a:pPr marL="165100" indent="-165100">
              <a:spcAft>
                <a:spcPts val="500"/>
              </a:spcAft>
              <a:buSzPct val="100000"/>
              <a:buChar char="●"/>
            </a:pPr>
            <a:r>
              <a:rPr lang="en-US" sz="1350" dirty="0">
                <a:solidFill>
                  <a:schemeClr val="accent5"/>
                </a:solidFill>
              </a:rPr>
              <a:t>Structure validated against the simulation format</a:t>
            </a:r>
            <a:endParaRPr lang="en-US" sz="1350" dirty="0"/>
          </a:p>
          <a:p>
            <a:pPr marL="165100" indent="-165100">
              <a:spcAft>
                <a:spcPts val="500"/>
              </a:spcAft>
              <a:buSzPct val="100000"/>
              <a:buChar char="●"/>
            </a:pPr>
            <a:r>
              <a:rPr lang="en-US" sz="1350" dirty="0">
                <a:solidFill>
                  <a:schemeClr val="accent5"/>
                </a:solidFill>
              </a:rPr>
              <a:t>The scenario is played through in a browser with the correct answers, and every scene's layout is measured</a:t>
            </a:r>
            <a:endParaRPr lang="en-US" sz="1350" dirty="0"/>
          </a:p>
          <a:p>
            <a:pPr marL="165100" indent="-165100">
              <a:spcAft>
                <a:spcPts val="500"/>
              </a:spcAft>
              <a:buSzPct val="100000"/>
              <a:buChar char="●"/>
            </a:pPr>
            <a:r>
              <a:rPr lang="en-US" sz="1350" dirty="0">
                <a:solidFill>
                  <a:schemeClr val="accent5"/>
                </a:solidFill>
              </a:rPr>
              <a:t>A scenario that cannot be completed does not get a link</a:t>
            </a:r>
            <a:endParaRPr lang="en-US" sz="1350" dirty="0"/>
          </a:p>
        </p:txBody>
      </p:sp>
      <p:sp>
        <p:nvSpPr>
          <p:cNvPr id="18" name="Card 114"/>
          <p:cNvSpPr/>
          <p:nvPr/>
        </p:nvSpPr>
        <p:spPr>
          <a:xfrm>
            <a:off x="4322978" y="1828800"/>
            <a:ext cx="3545738" cy="3383280"/>
          </a:xfrm>
          <a:prstGeom prst="roundRect">
            <a:avLst>
              <a:gd name="adj" fmla="val 3784"/>
            </a:avLst>
          </a:prstGeom>
          <a:solidFill>
            <a:srgbClr val="E3F6F0"/>
          </a:solidFill>
          <a:ln w="9525">
            <a:solidFill>
              <a:srgbClr val="A8E3D3"/>
            </a:solidFill>
            <a:prstDash val="solid"/>
          </a:ln>
        </p:spPr>
      </p:sp>
      <p:sp>
        <p:nvSpPr>
          <p:cNvPr id="19" name="Badge 115"/>
          <p:cNvSpPr txBox="1"/>
          <p:nvPr/>
        </p:nvSpPr>
        <p:spPr>
          <a:xfrm>
            <a:off x="4505858" y="2011680"/>
            <a:ext cx="384048" cy="384048"/>
          </a:xfrm>
          <a:prstGeom prst="ellipse">
            <a:avLst/>
          </a:prstGeom>
          <a:solidFill>
            <a:schemeClr val="accent3"/>
          </a:solidFill>
          <a:ln/>
        </p:spPr>
        <p:txBody>
          <a:bodyPr wrap="square" lIns="0" tIns="0" rIns="0" bIns="0" rtlCol="0" anchor="ctr"/>
          <a:lstStyle/>
          <a:p>
            <a:pPr algn="ctr" indent="0" marL="0">
              <a:buNone/>
            </a:pPr>
            <a:r>
              <a:rPr lang="en-US" sz="1100" b="1" dirty="0">
                <a:solidFill>
                  <a:schemeClr val="bg1"/>
                </a:solidFill>
              </a:rPr>
              <a:t>4b</a:t>
            </a:r>
            <a:endParaRPr lang="en-US" sz="1100" dirty="0"/>
          </a:p>
        </p:txBody>
      </p:sp>
      <p:sp>
        <p:nvSpPr>
          <p:cNvPr id="20" name="Card title 116"/>
          <p:cNvSpPr txBox="1"/>
          <p:nvPr/>
        </p:nvSpPr>
        <p:spPr>
          <a:xfrm>
            <a:off x="4505858" y="2487168"/>
            <a:ext cx="3179978" cy="310896"/>
          </a:xfrm>
          <a:prstGeom prst="rect">
            <a:avLst/>
          </a:prstGeom>
          <a:noFill/>
          <a:ln/>
        </p:spPr>
        <p:txBody>
          <a:bodyPr wrap="square" lIns="0" tIns="0" rIns="0" bIns="0" rtlCol="0" anchor="t"/>
          <a:lstStyle/>
          <a:p>
            <a:pPr indent="0" marL="0">
              <a:buNone/>
            </a:pPr>
            <a:r>
              <a:rPr lang="en-US" sz="1500" b="1" dirty="0">
                <a:solidFill>
                  <a:schemeClr val="tx1"/>
                </a:solidFill>
              </a:rPr>
              <a:t>Human review</a:t>
            </a:r>
            <a:endParaRPr lang="en-US" sz="1500" dirty="0"/>
          </a:p>
        </p:txBody>
      </p:sp>
      <p:sp>
        <p:nvSpPr>
          <p:cNvPr id="21" name="Card bullets 117"/>
          <p:cNvSpPr txBox="1"/>
          <p:nvPr/>
        </p:nvSpPr>
        <p:spPr>
          <a:xfrm>
            <a:off x="4505858" y="2871216"/>
            <a:ext cx="3179978" cy="2157984"/>
          </a:xfrm>
          <a:prstGeom prst="rect">
            <a:avLst/>
          </a:prstGeom>
          <a:noFill/>
          <a:ln/>
        </p:spPr>
        <p:txBody>
          <a:bodyPr wrap="square" lIns="0" tIns="0" rIns="0" bIns="0" rtlCol="0" anchor="t"/>
          <a:lstStyle/>
          <a:p>
            <a:pPr marL="165100" indent="-165100">
              <a:spcAft>
                <a:spcPts val="500"/>
              </a:spcAft>
              <a:buSzPct val="100000"/>
              <a:buChar char="●"/>
            </a:pPr>
            <a:r>
              <a:rPr lang="en-US" sz="1350" dirty="0">
                <a:solidFill>
                  <a:schemeClr val="accent5"/>
                </a:solidFill>
              </a:rPr>
              <a:t>The teacher tries it in preview and edits texts and positions directly</a:t>
            </a:r>
            <a:endParaRPr lang="en-US" sz="1350" dirty="0"/>
          </a:p>
          <a:p>
            <a:pPr marL="165100" indent="-165100">
              <a:spcAft>
                <a:spcPts val="500"/>
              </a:spcAft>
              <a:buSzPct val="100000"/>
              <a:buChar char="●"/>
            </a:pPr>
            <a:r>
              <a:rPr lang="en-US" sz="1350" dirty="0">
                <a:solidFill>
                  <a:schemeClr val="accent5"/>
                </a:solidFill>
              </a:rPr>
              <a:t>A nurse educator checks the clinical content: is this the right first action in our country, with our protocols?</a:t>
            </a:r>
            <a:endParaRPr lang="en-US" sz="1350" dirty="0"/>
          </a:p>
          <a:p>
            <a:pPr marL="165100" indent="-165100">
              <a:spcAft>
                <a:spcPts val="500"/>
              </a:spcAft>
              <a:buSzPct val="100000"/>
              <a:buChar char="●"/>
            </a:pPr>
            <a:r>
              <a:rPr lang="en-US" sz="1350" dirty="0">
                <a:solidFill>
                  <a:schemeClr val="accent5"/>
                </a:solidFill>
              </a:rPr>
              <a:t>Changes go back through the same checks</a:t>
            </a:r>
            <a:endParaRPr lang="en-US" sz="1350" dirty="0"/>
          </a:p>
        </p:txBody>
      </p:sp>
      <p:sp>
        <p:nvSpPr>
          <p:cNvPr id="22" name="Card 118"/>
          <p:cNvSpPr/>
          <p:nvPr/>
        </p:nvSpPr>
        <p:spPr>
          <a:xfrm>
            <a:off x="8097317" y="1828800"/>
            <a:ext cx="3545738" cy="3383280"/>
          </a:xfrm>
          <a:prstGeom prst="roundRect">
            <a:avLst>
              <a:gd name="adj" fmla="val 3784"/>
            </a:avLst>
          </a:prstGeom>
          <a:solidFill>
            <a:srgbClr val="FFFFFF"/>
          </a:solidFill>
          <a:ln w="9525">
            <a:solidFill>
              <a:srgbClr val="E4DED9"/>
            </a:solidFill>
            <a:prstDash val="solid"/>
          </a:ln>
        </p:spPr>
      </p:sp>
      <p:sp>
        <p:nvSpPr>
          <p:cNvPr id="23" name="Badge 119"/>
          <p:cNvSpPr txBox="1"/>
          <p:nvPr/>
        </p:nvSpPr>
        <p:spPr>
          <a:xfrm>
            <a:off x="8280197" y="2011680"/>
            <a:ext cx="384048" cy="384048"/>
          </a:xfrm>
          <a:prstGeom prst="ellipse">
            <a:avLst/>
          </a:prstGeom>
          <a:solidFill>
            <a:schemeClr val="accent3"/>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4" name="Card title 120"/>
          <p:cNvSpPr txBox="1"/>
          <p:nvPr/>
        </p:nvSpPr>
        <p:spPr>
          <a:xfrm>
            <a:off x="8280197" y="2487168"/>
            <a:ext cx="3179978" cy="310896"/>
          </a:xfrm>
          <a:prstGeom prst="rect">
            <a:avLst/>
          </a:prstGeom>
          <a:noFill/>
          <a:ln/>
        </p:spPr>
        <p:txBody>
          <a:bodyPr wrap="square" lIns="0" tIns="0" rIns="0" bIns="0" rtlCol="0" anchor="t"/>
          <a:lstStyle/>
          <a:p>
            <a:pPr indent="0" marL="0">
              <a:buNone/>
            </a:pPr>
            <a:r>
              <a:rPr lang="en-US" sz="1500" b="1" dirty="0">
                <a:solidFill>
                  <a:schemeClr val="tx1"/>
                </a:solidFill>
              </a:rPr>
              <a:t>Publish</a:t>
            </a:r>
            <a:endParaRPr lang="en-US" sz="1500" dirty="0"/>
          </a:p>
        </p:txBody>
      </p:sp>
      <p:sp>
        <p:nvSpPr>
          <p:cNvPr id="25" name="Card bullets 121"/>
          <p:cNvSpPr txBox="1"/>
          <p:nvPr/>
        </p:nvSpPr>
        <p:spPr>
          <a:xfrm>
            <a:off x="8280197" y="2871216"/>
            <a:ext cx="3179978" cy="2157984"/>
          </a:xfrm>
          <a:prstGeom prst="rect">
            <a:avLst/>
          </a:prstGeom>
          <a:noFill/>
          <a:ln/>
        </p:spPr>
        <p:txBody>
          <a:bodyPr wrap="square" lIns="0" tIns="0" rIns="0" bIns="0" rtlCol="0" anchor="t"/>
          <a:lstStyle/>
          <a:p>
            <a:pPr marL="165100" indent="-165100">
              <a:spcAft>
                <a:spcPts val="500"/>
              </a:spcAft>
              <a:buSzPct val="100000"/>
              <a:buChar char="●"/>
            </a:pPr>
            <a:r>
              <a:rPr lang="en-US" sz="1350" dirty="0">
                <a:solidFill>
                  <a:schemeClr val="accent5"/>
                </a:solidFill>
              </a:rPr>
              <a:t>Into the learning platform (Moodle) with LTI: the score is reported when the learner reaches the end</a:t>
            </a:r>
            <a:endParaRPr lang="en-US" sz="1350" dirty="0"/>
          </a:p>
          <a:p>
            <a:pPr marL="165100" indent="-165100">
              <a:spcAft>
                <a:spcPts val="500"/>
              </a:spcAft>
              <a:buSzPct val="100000"/>
              <a:buChar char="●"/>
            </a:pPr>
            <a:r>
              <a:rPr lang="en-US" sz="1350" dirty="0">
                <a:solidFill>
                  <a:schemeClr val="accent5"/>
                </a:solidFill>
              </a:rPr>
              <a:t>As a link, or embedded in a course site</a:t>
            </a:r>
            <a:endParaRPr lang="en-US" sz="1350" dirty="0"/>
          </a:p>
          <a:p>
            <a:pPr marL="165100" indent="-165100">
              <a:spcAft>
                <a:spcPts val="500"/>
              </a:spcAft>
              <a:buSzPct val="100000"/>
              <a:buChar char="●"/>
            </a:pPr>
            <a:r>
              <a:rPr lang="en-US" sz="1350" dirty="0">
                <a:solidFill>
                  <a:schemeClr val="accent5"/>
                </a:solidFill>
              </a:rPr>
              <a:t>Self-service publishing inside Creator is being built; today 3DBear publishes on request</a:t>
            </a:r>
            <a:endParaRPr lang="en-US" sz="1350" dirty="0"/>
          </a:p>
        </p:txBody>
      </p:sp>
      <p:sp>
        <p:nvSpPr>
          <p:cNvPr id="26"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2"/>
                </a:solidFill>
              </a:rPr>
              <a:t>LIVE EXAMPLE · BUILT WITH THE WORKFLOW</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Hospital health and safety: spot the hazard</a:t>
            </a:r>
            <a:endParaRPr lang="en-US" sz="3000" dirty="0"/>
          </a:p>
        </p:txBody>
      </p:sp>
      <p:pic>
        <p:nvPicPr>
          <p:cNvPr id="5" name="Live example screenshot" descr="Briefing scene of the live 360° simulation: a hospital ward corridor with the question about the most common cause of injury to nurses">
            <a:hlinkClick r:id="rId2" tooltip="Open the live example"/>
          </p:cNvPr>
          <p:cNvPicPr>
            <a:picLocks noChangeAspect="1"/>
          </p:cNvPicPr>
          <p:nvPr/>
        </p:nvPicPr>
        <p:blipFill>
          <a:blip r:embed="rId1"/>
          <a:stretch>
            <a:fillRect/>
          </a:stretch>
        </p:blipFill>
        <p:spPr>
          <a:xfrm>
            <a:off x="548640" y="1600200"/>
            <a:ext cx="7406640" cy="4166235"/>
          </a:xfrm>
          <a:prstGeom prst="rect">
            <a:avLst/>
          </a:prstGeom>
        </p:spPr>
      </p:pic>
      <p:sp>
        <p:nvSpPr>
          <p:cNvPr id="6" name="Card 122"/>
          <p:cNvSpPr/>
          <p:nvPr/>
        </p:nvSpPr>
        <p:spPr>
          <a:xfrm>
            <a:off x="8275320" y="1600200"/>
            <a:ext cx="3367735" cy="4166235"/>
          </a:xfrm>
          <a:prstGeom prst="roundRect">
            <a:avLst>
              <a:gd name="adj" fmla="val 3801"/>
            </a:avLst>
          </a:prstGeom>
          <a:solidFill>
            <a:srgbClr val="FFFFFF"/>
          </a:solidFill>
          <a:ln w="9525">
            <a:solidFill>
              <a:srgbClr val="E4DED9"/>
            </a:solidFill>
            <a:prstDash val="solid"/>
          </a:ln>
        </p:spPr>
      </p:sp>
      <p:sp>
        <p:nvSpPr>
          <p:cNvPr id="7" name="Card title 123"/>
          <p:cNvSpPr txBox="1"/>
          <p:nvPr/>
        </p:nvSpPr>
        <p:spPr>
          <a:xfrm>
            <a:off x="8458200" y="1783080"/>
            <a:ext cx="3001975" cy="310896"/>
          </a:xfrm>
          <a:prstGeom prst="rect">
            <a:avLst/>
          </a:prstGeom>
          <a:noFill/>
          <a:ln/>
        </p:spPr>
        <p:txBody>
          <a:bodyPr wrap="square" lIns="0" tIns="0" rIns="0" bIns="0" rtlCol="0" anchor="t"/>
          <a:lstStyle/>
          <a:p>
            <a:pPr indent="0" marL="0">
              <a:buNone/>
            </a:pPr>
            <a:r>
              <a:rPr lang="en-US" sz="1500" b="1" dirty="0">
                <a:solidFill>
                  <a:schemeClr val="tx1"/>
                </a:solidFill>
              </a:rPr>
              <a:t>Try it live</a:t>
            </a:r>
            <a:endParaRPr lang="en-US" sz="1500" dirty="0"/>
          </a:p>
        </p:txBody>
      </p:sp>
      <p:sp>
        <p:nvSpPr>
          <p:cNvPr id="8" name="Card bullets 124"/>
          <p:cNvSpPr txBox="1"/>
          <p:nvPr/>
        </p:nvSpPr>
        <p:spPr>
          <a:xfrm>
            <a:off x="8458200" y="2167128"/>
            <a:ext cx="3001975" cy="2410587"/>
          </a:xfrm>
          <a:prstGeom prst="rect">
            <a:avLst/>
          </a:prstGeom>
          <a:noFill/>
          <a:ln/>
        </p:spPr>
        <p:txBody>
          <a:bodyPr wrap="square" lIns="0" tIns="0" rIns="0" bIns="0" rtlCol="0" anchor="t"/>
          <a:lstStyle/>
          <a:p>
            <a:pPr marL="165100" indent="-165100">
              <a:spcAft>
                <a:spcPts val="500"/>
              </a:spcAft>
              <a:buSzPct val="100000"/>
              <a:buChar char="●"/>
            </a:pPr>
            <a:r>
              <a:rPr lang="en-US" sz="1300" dirty="0">
                <a:solidFill>
                  <a:schemeClr val="accent5"/>
                </a:solidFill>
              </a:rPr>
              <a:t>Briefing with an activating question</a:t>
            </a:r>
            <a:endParaRPr lang="en-US" sz="1300" dirty="0"/>
          </a:p>
          <a:p>
            <a:pPr marL="165100" indent="-165100">
              <a:spcAft>
                <a:spcPts val="500"/>
              </a:spcAft>
              <a:buSzPct val="100000"/>
              <a:buChar char="●"/>
            </a:pPr>
            <a:r>
              <a:rPr lang="en-US" sz="1300" dirty="0">
                <a:solidFill>
                  <a:schemeClr val="accent5"/>
                </a:solidFill>
              </a:rPr>
              <a:t>Two rounds of spotting visible and hidden hazards</a:t>
            </a:r>
            <a:endParaRPr lang="en-US" sz="1300" dirty="0"/>
          </a:p>
          <a:p>
            <a:pPr marL="165100" indent="-165100">
              <a:spcAft>
                <a:spcPts val="500"/>
              </a:spcAft>
              <a:buSzPct val="100000"/>
              <a:buChar char="●"/>
            </a:pPr>
            <a:r>
              <a:rPr lang="en-US" sz="1300" dirty="0">
                <a:solidFill>
                  <a:schemeClr val="accent5"/>
                </a:solidFill>
              </a:rPr>
              <a:t>Two decisions with consequences</a:t>
            </a:r>
            <a:endParaRPr lang="en-US" sz="1300" dirty="0"/>
          </a:p>
          <a:p>
            <a:pPr marL="165100" indent="-165100">
              <a:spcAft>
                <a:spcPts val="500"/>
              </a:spcAft>
              <a:buSzPct val="100000"/>
              <a:buChar char="●"/>
            </a:pPr>
            <a:r>
              <a:rPr lang="en-US" sz="1300" dirty="0">
                <a:solidFill>
                  <a:schemeClr val="accent5"/>
                </a:solidFill>
              </a:rPr>
              <a:t>Debriefing and final score</a:t>
            </a:r>
            <a:endParaRPr lang="en-US" sz="1300" dirty="0"/>
          </a:p>
          <a:p>
            <a:pPr marL="165100" indent="-165100">
              <a:spcAft>
                <a:spcPts val="500"/>
              </a:spcAft>
              <a:buSzPct val="100000"/>
              <a:buChar char="●"/>
            </a:pPr>
            <a:r>
              <a:rPr lang="en-US" sz="1300" dirty="0">
                <a:solidFill>
                  <a:schemeClr val="accent5"/>
                </a:solidFill>
              </a:rPr>
              <a:t>Runs in an ordinary browser; no headset needed</a:t>
            </a:r>
            <a:endParaRPr lang="en-US" sz="1300" dirty="0"/>
          </a:p>
        </p:txBody>
      </p:sp>
      <p:sp>
        <p:nvSpPr>
          <p:cNvPr id="9" name="Button 125">
            <a:hlinkClick r:id="rId3" tooltip="https://s360.simuna.io/nexr/nursing-home/index.html"/>
          </p:cNvPr>
          <p:cNvSpPr txBox="1"/>
          <p:nvPr/>
        </p:nvSpPr>
        <p:spPr>
          <a:xfrm>
            <a:off x="8458200" y="4897755"/>
            <a:ext cx="3001975" cy="347472"/>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u="none" dirty="0">
                <a:solidFill>
                  <a:schemeClr val="bg1"/>
                </a:solidFill>
                <a:hlinkClick r:id="rId3" invalidUrl="" action="" tgtFrame="" tooltip="https://s360.simuna.io/nexr/nursing-home/index.html" history="1" highlightClick="0" endSnd="0">
                  <a:extLst>
                    <a:ext uri="{A12FA001-AC4F-418D-AE19-62706E023703}">
                      <ahyp:hlinkClr xmlns:ahyp="http://schemas.microsoft.com/office/drawing/2018/hyperlinkcolor" val="tx"/>
                    </a:ext>
                  </a:extLst>
                </a:hlinkClick>
              </a:rPr>
              <a:t>Open the live example →</a:t>
            </a:r>
            <a:endParaRPr lang="en-US" sz="1200" dirty="0"/>
          </a:p>
        </p:txBody>
      </p:sp>
      <p:sp>
        <p:nvSpPr>
          <p:cNvPr id="10" name="Live URL"/>
          <p:cNvSpPr txBox="1"/>
          <p:nvPr/>
        </p:nvSpPr>
        <p:spPr>
          <a:xfrm>
            <a:off x="8458200" y="5309235"/>
            <a:ext cx="3001975" cy="256032"/>
          </a:xfrm>
          <a:prstGeom prst="rect">
            <a:avLst/>
          </a:prstGeom>
          <a:noFill/>
          <a:ln/>
        </p:spPr>
        <p:txBody>
          <a:bodyPr wrap="square" lIns="0" tIns="0" rIns="0" bIns="0" rtlCol="0" anchor="ctr"/>
          <a:lstStyle/>
          <a:p>
            <a:pPr indent="0" marL="0">
              <a:buNone/>
            </a:pPr>
            <a:r>
              <a:rPr lang="en-US" sz="1000" u="sng" dirty="0">
                <a:solidFill>
                  <a:schemeClr val="accent2"/>
                </a:solidFill>
                <a:hlinkClick r:id="rId4" invalidUrl="" action="" tgtFrame="" tooltip="" history="1" highlightClick="0" endSnd="0">
                  <a:extLst>
                    <a:ext uri="{A12FA001-AC4F-418D-AE19-62706E023703}">
                      <ahyp:hlinkClr xmlns:ahyp="http://schemas.microsoft.com/office/drawing/2018/hyperlinkcolor" val="tx"/>
                    </a:ext>
                  </a:extLst>
                </a:hlinkClick>
              </a:rPr>
              <a:t>s360.simuna.io/nexr/nursing-home</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2"/>
                </a:solidFill>
              </a:rPr>
              <a:t>4 · EXAMPLE FROM FINLAND</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Not a single scenario: a whole course</a:t>
            </a:r>
            <a:endParaRPr lang="en-US" sz="3000" dirty="0"/>
          </a:p>
        </p:txBody>
      </p:sp>
      <p:sp>
        <p:nvSpPr>
          <p:cNvPr id="5" name="Lead 126"/>
          <p:cNvSpPr txBox="1"/>
          <p:nvPr/>
        </p:nvSpPr>
        <p:spPr>
          <a:xfrm>
            <a:off x="548640" y="1325880"/>
            <a:ext cx="10428750" cy="566928"/>
          </a:xfrm>
          <a:prstGeom prst="rect">
            <a:avLst/>
          </a:prstGeom>
          <a:noFill/>
          <a:ln/>
        </p:spPr>
        <p:txBody>
          <a:bodyPr wrap="square" lIns="0" tIns="0" rIns="0" bIns="0" rtlCol="0" anchor="t"/>
          <a:lstStyle/>
          <a:p>
            <a:pPr indent="0" marL="0">
              <a:buNone/>
            </a:pPr>
            <a:r>
              <a:rPr lang="en-US" sz="1400" dirty="0">
                <a:solidFill>
                  <a:schemeClr val="accent5"/>
                </a:solidFill>
              </a:rPr>
              <a:t>"Mental health promotion and preventive substance abuse work", a 30-competence-point unit of Finnish practical-nurse training, produced by 3DBear in the same AI workspace. Work started in March 2026; the course went into production use in July 2026.</a:t>
            </a:r>
            <a:endParaRPr lang="en-US" sz="1400" dirty="0"/>
          </a:p>
        </p:txBody>
      </p:sp>
      <p:graphicFrame>
        <p:nvGraphicFramePr>
          <p:cNvPr id="11" name="Course outline"/>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3566160"/>
                <a:gridCol w="1097280"/>
                <a:gridCol w="6430975"/>
              </a:tblGrid>
              <a:tr h="274320">
                <a:tc>
                  <a:txBody>
                    <a:bodyPr/>
                    <a:lstStyle/>
                    <a:p>
                      <a:pPr algn="l" indent="0" marL="0">
                        <a:buNone/>
                      </a:pPr>
                      <a:r>
                        <a:rPr lang="en-US" sz="900" b="1" spc="100" kern="0" dirty="0">
                          <a:solidFill>
                            <a:srgbClr val="7D8C8F"/>
                          </a:solidFill>
                        </a:rPr>
                        <a:t>MODULE</a:t>
                      </a:r>
                      <a:endParaRPr lang="en-US" sz="900" dirty="0"/>
                    </a:p>
                  </a:txBody>
                  <a:tcPr marL="76200" marR="76200" marT="38100" marB="38100" anchor="ctr">
                    <a:lnL w="0" cap="flat" cmpd="sng" algn="ctr">
                      <a:noFill/>
                    </a:lnL>
                    <a:lnR w="0" cap="flat" cmpd="sng" algn="ctr">
                      <a:noFill/>
                    </a:lnR>
                    <a:lnT w="0" cap="flat" cmpd="sng" algn="ctr">
                      <a:noFill/>
                    </a:lnT>
                    <a:lnB w="19050" cap="flat" cmpd="sng" algn="ctr">
                      <a:solidFill>
                        <a:srgbClr val="E4DED9"/>
                      </a:solidFill>
                      <a:prstDash val="solid"/>
                      <a:round/>
                      <a:headEnd type="none" w="med" len="med"/>
                      <a:tailEnd type="none" w="med" len="med"/>
                    </a:lnB>
                  </a:tcPr>
                </a:tc>
                <a:tc>
                  <a:txBody>
                    <a:bodyPr/>
                    <a:lstStyle/>
                    <a:p>
                      <a:pPr algn="ctr" indent="0" marL="0">
                        <a:buNone/>
                      </a:pPr>
                      <a:r>
                        <a:rPr lang="en-US" sz="900" b="1" spc="100" kern="0" dirty="0">
                          <a:solidFill>
                            <a:srgbClr val="7D8C8F"/>
                          </a:solidFill>
                        </a:rPr>
                        <a:t>THEORY BOOKS</a:t>
                      </a:r>
                      <a:endParaRPr lang="en-US" sz="900" dirty="0"/>
                    </a:p>
                  </a:txBody>
                  <a:tcPr marL="76200" marR="76200" marT="38100" marB="38100" anchor="ctr">
                    <a:lnL w="0" cap="flat" cmpd="sng" algn="ctr">
                      <a:noFill/>
                    </a:lnL>
                    <a:lnR w="0" cap="flat" cmpd="sng" algn="ctr">
                      <a:noFill/>
                    </a:lnR>
                    <a:lnT w="0" cap="flat" cmpd="sng" algn="ctr">
                      <a:noFill/>
                    </a:lnT>
                    <a:lnB w="19050" cap="flat" cmpd="sng" algn="ctr">
                      <a:solidFill>
                        <a:srgbClr val="E4DED9"/>
                      </a:solidFill>
                      <a:prstDash val="solid"/>
                      <a:round/>
                      <a:headEnd type="none" w="med" len="med"/>
                      <a:tailEnd type="none" w="med" len="med"/>
                    </a:lnB>
                  </a:tcPr>
                </a:tc>
                <a:tc>
                  <a:txBody>
                    <a:bodyPr/>
                    <a:lstStyle/>
                    <a:p>
                      <a:pPr algn="l" indent="0" marL="0">
                        <a:buNone/>
                      </a:pPr>
                      <a:r>
                        <a:rPr lang="en-US" sz="900" b="1" spc="100" kern="0" dirty="0">
                          <a:solidFill>
                            <a:srgbClr val="7D8C8F"/>
                          </a:solidFill>
                        </a:rPr>
                        <a:t>PRACTICE HIGHLIGHTS</a:t>
                      </a:r>
                      <a:endParaRPr lang="en-US" sz="900" dirty="0"/>
                    </a:p>
                  </a:txBody>
                  <a:tcPr marL="76200" marR="76200" marT="38100" marB="38100" anchor="ctr">
                    <a:lnL w="0" cap="flat" cmpd="sng" algn="ctr">
                      <a:noFill/>
                    </a:lnL>
                    <a:lnR w="0" cap="flat" cmpd="sng" algn="ctr">
                      <a:noFill/>
                    </a:lnR>
                    <a:lnT w="0" cap="flat" cmpd="sng" algn="ctr">
                      <a:noFill/>
                    </a:lnT>
                    <a:lnB w="19050" cap="flat" cmpd="sng" algn="ctr">
                      <a:solidFill>
                        <a:srgbClr val="E4DED9"/>
                      </a:solidFill>
                      <a:prstDash val="solid"/>
                      <a:round/>
                      <a:headEnd type="none" w="med" len="med"/>
                      <a:tailEnd type="none" w="med" len="med"/>
                    </a:lnB>
                  </a:tcPr>
                </a:tc>
              </a:tr>
              <a:tr h="274320">
                <a:tc>
                  <a:txBody>
                    <a:bodyPr/>
                    <a:lstStyle/>
                    <a:p>
                      <a:pPr indent="0" marL="0">
                        <a:buNone/>
                      </a:pPr>
                      <a:r>
                        <a:rPr lang="en-US" sz="1100" b="1" dirty="0">
                          <a:solidFill>
                            <a:schemeClr val="tx1"/>
                          </a:solidFill>
                        </a:rPr>
                        <a:t>1 · Professional ethics and legislation</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algn="ctr" indent="0" marL="0">
                        <a:buNone/>
                      </a:pPr>
                      <a:r>
                        <a:rPr lang="en-US" sz="1100" b="1" dirty="0">
                          <a:solidFill>
                            <a:schemeClr val="accent3"/>
                          </a:solidFill>
                        </a:rPr>
                        <a:t>5</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indent="0" marL="0">
                        <a:buNone/>
                      </a:pPr>
                      <a:r>
                        <a:rPr lang="en-US" sz="1100" dirty="0">
                          <a:solidFill>
                            <a:schemeClr val="accent5"/>
                          </a:solidFill>
                        </a:rPr>
                        <a:t>Case tasks, concept cards, reflection on an ethical situation</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r>
              <a:tr h="274320">
                <a:tc>
                  <a:txBody>
                    <a:bodyPr/>
                    <a:lstStyle/>
                    <a:p>
                      <a:pPr indent="0" marL="0">
                        <a:buNone/>
                      </a:pPr>
                      <a:r>
                        <a:rPr lang="en-US" sz="1100" b="1" dirty="0">
                          <a:solidFill>
                            <a:schemeClr val="tx1"/>
                          </a:solidFill>
                        </a:rPr>
                        <a:t>2 · Working in a work community</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algn="ctr" indent="0" marL="0">
                        <a:buNone/>
                      </a:pPr>
                      <a:r>
                        <a:rPr lang="en-US" sz="1100" b="1" dirty="0">
                          <a:solidFill>
                            <a:schemeClr val="accent3"/>
                          </a:solidFill>
                        </a:rPr>
                        <a:t>5</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indent="0" marL="0">
                        <a:buNone/>
                      </a:pPr>
                      <a:r>
                        <a:rPr lang="en-US" sz="900" b="1" dirty="0">
                          <a:solidFill>
                            <a:schemeClr val="accent3"/>
                          </a:solidFill>
                          <a:highlight>
                            <a:srgbClr val="FCE5DF"/>
                          </a:highlight>
                        </a:rPr>
                        <a:t> 360° </a:t>
                      </a:r>
                      <a:pPr indent="0" marL="0">
                        <a:buNone/>
                      </a:pPr>
                      <a:r>
                        <a:rPr lang="en-US" sz="1100" dirty="0">
                          <a:solidFill>
                            <a:schemeClr val="accent5"/>
                          </a:solidFill>
                        </a:rPr>
                        <a:t> Equal work community and preventing harassment; first-aid case</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r>
              <a:tr h="274320">
                <a:tc>
                  <a:txBody>
                    <a:bodyPr/>
                    <a:lstStyle/>
                    <a:p>
                      <a:pPr indent="0" marL="0">
                        <a:buNone/>
                      </a:pPr>
                      <a:r>
                        <a:rPr lang="en-US" sz="1100" b="1" dirty="0">
                          <a:solidFill>
                            <a:schemeClr val="tx1"/>
                          </a:solidFill>
                        </a:rPr>
                        <a:t>3 · Professional interaction</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algn="ctr" indent="0" marL="0">
                        <a:buNone/>
                      </a:pPr>
                      <a:r>
                        <a:rPr lang="en-US" sz="1100" b="1" dirty="0">
                          <a:solidFill>
                            <a:schemeClr val="accent3"/>
                          </a:solidFill>
                        </a:rPr>
                        <a:t>5</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indent="0" marL="0">
                        <a:buNone/>
                      </a:pPr>
                      <a:r>
                        <a:rPr lang="en-US" sz="900" b="1" dirty="0">
                          <a:solidFill>
                            <a:schemeClr val="accent3"/>
                          </a:solidFill>
                          <a:highlight>
                            <a:srgbClr val="FCE5DF"/>
                          </a:highlight>
                        </a:rPr>
                        <a:t> 360° </a:t>
                      </a:r>
                      <a:pPr indent="0" marL="0">
                        <a:buNone/>
                      </a:pPr>
                      <a:r>
                        <a:rPr lang="en-US" sz="1100" dirty="0">
                          <a:solidFill>
                            <a:schemeClr val="accent5"/>
                          </a:solidFill>
                        </a:rPr>
                        <a:t> Meeting an aggressive client · </a:t>
                      </a:r>
                      <a:pPr indent="0" marL="0">
                        <a:buNone/>
                      </a:pPr>
                      <a:r>
                        <a:rPr lang="en-US" sz="900" b="1" dirty="0">
                          <a:solidFill>
                            <a:schemeClr val="accent3"/>
                          </a:solidFill>
                          <a:highlight>
                            <a:srgbClr val="FCE5DF"/>
                          </a:highlight>
                        </a:rPr>
                        <a:t> AI talk </a:t>
                      </a:r>
                      <a:pPr indent="0" marL="0">
                        <a:buNone/>
                      </a:pPr>
                      <a:r>
                        <a:rPr lang="en-US" sz="1100" dirty="0">
                          <a:solidFill>
                            <a:schemeClr val="accent5"/>
                          </a:solidFill>
                        </a:rPr>
                        <a:t> A respectful first meeting · a quiet, withdrawn client</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r>
              <a:tr h="274320">
                <a:tc>
                  <a:txBody>
                    <a:bodyPr/>
                    <a:lstStyle/>
                    <a:p>
                      <a:pPr indent="0" marL="0">
                        <a:buNone/>
                      </a:pPr>
                      <a:r>
                        <a:rPr lang="en-US" sz="1100" b="1" dirty="0">
                          <a:solidFill>
                            <a:schemeClr val="tx1"/>
                          </a:solidFill>
                        </a:rPr>
                        <a:t>4 · Planning the work</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algn="ctr" indent="0" marL="0">
                        <a:buNone/>
                      </a:pPr>
                      <a:r>
                        <a:rPr lang="en-US" sz="1100" b="1" dirty="0">
                          <a:solidFill>
                            <a:schemeClr val="accent3"/>
                          </a:solidFill>
                        </a:rPr>
                        <a:t>7</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indent="0" marL="0">
                        <a:buNone/>
                      </a:pPr>
                      <a:r>
                        <a:rPr lang="en-US" sz="900" b="1" dirty="0">
                          <a:solidFill>
                            <a:schemeClr val="accent3"/>
                          </a:solidFill>
                          <a:highlight>
                            <a:srgbClr val="FCE5DF"/>
                          </a:highlight>
                        </a:rPr>
                        <a:t> AI talk </a:t>
                      </a:r>
                      <a:pPr indent="0" marL="0">
                        <a:buNone/>
                      </a:pPr>
                      <a:r>
                        <a:rPr lang="en-US" sz="1100" dirty="0">
                          <a:solidFill>
                            <a:schemeClr val="accent5"/>
                          </a:solidFill>
                        </a:rPr>
                        <a:t> Motivational interviewing · substance and medication interaction micro-simulation · medication monitoring and dose calculation</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r>
              <a:tr h="274320">
                <a:tc>
                  <a:txBody>
                    <a:bodyPr/>
                    <a:lstStyle/>
                    <a:p>
                      <a:pPr indent="0" marL="0">
                        <a:buNone/>
                      </a:pPr>
                      <a:r>
                        <a:rPr lang="en-US" sz="1100" b="1" dirty="0">
                          <a:solidFill>
                            <a:schemeClr val="tx1"/>
                          </a:solidFill>
                        </a:rPr>
                        <a:t>5 · Mental health promotion and preventive substance abuse work</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algn="ctr" indent="0" marL="0">
                        <a:buNone/>
                      </a:pPr>
                      <a:r>
                        <a:rPr lang="en-US" sz="1100" b="1" dirty="0">
                          <a:solidFill>
                            <a:schemeClr val="accent3"/>
                          </a:solidFill>
                        </a:rPr>
                        <a:t>8</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indent="0" marL="0">
                        <a:buNone/>
                      </a:pPr>
                      <a:r>
                        <a:rPr lang="en-US" sz="900" b="1" dirty="0">
                          <a:solidFill>
                            <a:schemeClr val="accent3"/>
                          </a:solidFill>
                          <a:highlight>
                            <a:srgbClr val="FCE5DF"/>
                          </a:highlight>
                        </a:rPr>
                        <a:t> 360° </a:t>
                      </a:r>
                      <a:pPr indent="0" marL="0">
                        <a:buNone/>
                      </a:pPr>
                      <a:r>
                        <a:rPr lang="en-US" sz="1100" dirty="0">
                          <a:solidFill>
                            <a:schemeClr val="accent5"/>
                          </a:solidFill>
                        </a:rPr>
                        <a:t> Supporting participation · acute psychosis · recognising suicidality and raising the topic</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r>
              <a:tr h="274320">
                <a:tc>
                  <a:txBody>
                    <a:bodyPr/>
                    <a:lstStyle/>
                    <a:p>
                      <a:pPr indent="0" marL="0">
                        <a:buNone/>
                      </a:pPr>
                      <a:r>
                        <a:rPr lang="en-US" sz="1100" b="1" dirty="0">
                          <a:solidFill>
                            <a:schemeClr val="tx1"/>
                          </a:solidFill>
                        </a:rPr>
                        <a:t>6 · Evaluating the work</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algn="ctr" indent="0" marL="0">
                        <a:buNone/>
                      </a:pPr>
                      <a:r>
                        <a:rPr lang="en-US" sz="1100" b="1" dirty="0">
                          <a:solidFill>
                            <a:schemeClr val="accent3"/>
                          </a:solidFill>
                        </a:rPr>
                        <a:t>4</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c>
                  <a:txBody>
                    <a:bodyPr/>
                    <a:lstStyle/>
                    <a:p>
                      <a:pPr indent="0" marL="0">
                        <a:buNone/>
                      </a:pPr>
                      <a:r>
                        <a:rPr lang="en-US" sz="900" b="1" dirty="0">
                          <a:solidFill>
                            <a:schemeClr val="accent3"/>
                          </a:solidFill>
                          <a:highlight>
                            <a:srgbClr val="FCE5DF"/>
                          </a:highlight>
                        </a:rPr>
                        <a:t> AI talk </a:t>
                      </a:r>
                      <a:pPr indent="0" marL="0">
                        <a:buNone/>
                      </a:pPr>
                      <a:r>
                        <a:rPr lang="en-US" sz="1100" dirty="0">
                          <a:solidFill>
                            <a:schemeClr val="accent5"/>
                          </a:solidFill>
                        </a:rPr>
                        <a:t> Joint evaluation with a client · "correct the record" task · final exam</a:t>
                      </a:r>
                      <a:endParaRPr lang="en-US" sz="1100" dirty="0"/>
                    </a:p>
                  </a:txBody>
                  <a:tcPr marL="76200" marR="76200" marT="38100" marB="38100" anchor="ctr">
                    <a:lnL w="0" cap="flat" cmpd="sng" algn="ctr">
                      <a:noFill/>
                    </a:lnL>
                    <a:lnR w="0" cap="flat" cmpd="sng" algn="ctr">
                      <a:noFill/>
                    </a:lnR>
                    <a:lnT w="0" cap="flat" cmpd="sng" algn="ctr">
                      <a:noFill/>
                    </a:lnT>
                    <a:lnB w="9525" cap="flat" cmpd="sng" algn="ctr">
                      <a:solidFill>
                        <a:srgbClr val="E4DED9"/>
                      </a:solidFill>
                      <a:prstDash val="solid"/>
                      <a:round/>
                      <a:headEnd type="none" w="med" len="med"/>
                      <a:tailEnd type="none" w="med" len="med"/>
                    </a:lnB>
                  </a:tcPr>
                </a:tc>
              </a:tr>
            </a:tbl>
          </a:graphicData>
        </a:graphic>
      </p:graphicFrame>
      <p:sp>
        <p:nvSpPr>
          <p:cNvPr id="7" name="Stat 127"/>
          <p:cNvSpPr txBox="1"/>
          <p:nvPr/>
        </p:nvSpPr>
        <p:spPr>
          <a:xfrm>
            <a:off x="548640" y="4800600"/>
            <a:ext cx="1999427" cy="777240"/>
          </a:xfrm>
          <a:prstGeom prst="rect">
            <a:avLst/>
          </a:prstGeom>
          <a:noFill/>
          <a:ln/>
        </p:spPr>
        <p:txBody>
          <a:bodyPr wrap="square" lIns="0" tIns="0" rIns="0" bIns="0" rtlCol="0" anchor="t"/>
          <a:lstStyle/>
          <a:p>
            <a:pPr indent="0" marL="0">
              <a:buNone/>
            </a:pPr>
            <a:r>
              <a:rPr lang="en-US" sz="2600" b="1" dirty="0">
                <a:solidFill>
                  <a:schemeClr val="accent3"/>
                </a:solidFill>
              </a:rPr>
              <a:t>34</a:t>
            </a:r>
            <a:endParaRPr lang="en-US" sz="2600" dirty="0"/>
          </a:p>
          <a:p>
            <a:pPr indent="0" marL="0">
              <a:buNone/>
            </a:pPr>
            <a:r>
              <a:rPr lang="en-US" sz="1050" dirty="0">
                <a:solidFill>
                  <a:srgbClr val="7D8C8F"/>
                </a:solidFill>
              </a:rPr>
              <a:t>interactive theory books</a:t>
            </a:r>
            <a:endParaRPr lang="en-US" sz="2600" dirty="0"/>
          </a:p>
        </p:txBody>
      </p:sp>
      <p:sp>
        <p:nvSpPr>
          <p:cNvPr id="8" name="Stat 128"/>
          <p:cNvSpPr txBox="1"/>
          <p:nvPr/>
        </p:nvSpPr>
        <p:spPr>
          <a:xfrm>
            <a:off x="2822387" y="4800600"/>
            <a:ext cx="1999427" cy="777240"/>
          </a:xfrm>
          <a:prstGeom prst="rect">
            <a:avLst/>
          </a:prstGeom>
          <a:noFill/>
          <a:ln/>
        </p:spPr>
        <p:txBody>
          <a:bodyPr wrap="square" lIns="0" tIns="0" rIns="0" bIns="0" rtlCol="0" anchor="t"/>
          <a:lstStyle/>
          <a:p>
            <a:pPr indent="0" marL="0">
              <a:buNone/>
            </a:pPr>
            <a:r>
              <a:rPr lang="en-US" sz="2600" b="1" dirty="0">
                <a:solidFill>
                  <a:schemeClr val="accent3"/>
                </a:solidFill>
              </a:rPr>
              <a:t>5</a:t>
            </a:r>
            <a:endParaRPr lang="en-US" sz="2600" dirty="0"/>
          </a:p>
          <a:p>
            <a:pPr indent="0" marL="0">
              <a:buNone/>
            </a:pPr>
            <a:r>
              <a:rPr lang="en-US" sz="1050" dirty="0">
                <a:solidFill>
                  <a:srgbClr val="7D8C8F"/>
                </a:solidFill>
              </a:rPr>
              <a:t>360° simulations</a:t>
            </a:r>
            <a:endParaRPr lang="en-US" sz="2600" dirty="0"/>
          </a:p>
        </p:txBody>
      </p:sp>
      <p:sp>
        <p:nvSpPr>
          <p:cNvPr id="9" name="Stat 129"/>
          <p:cNvSpPr txBox="1"/>
          <p:nvPr/>
        </p:nvSpPr>
        <p:spPr>
          <a:xfrm>
            <a:off x="5096134" y="4800600"/>
            <a:ext cx="1999427" cy="777240"/>
          </a:xfrm>
          <a:prstGeom prst="rect">
            <a:avLst/>
          </a:prstGeom>
          <a:noFill/>
          <a:ln/>
        </p:spPr>
        <p:txBody>
          <a:bodyPr wrap="square" lIns="0" tIns="0" rIns="0" bIns="0" rtlCol="0" anchor="t"/>
          <a:lstStyle/>
          <a:p>
            <a:pPr indent="0" marL="0">
              <a:buNone/>
            </a:pPr>
            <a:r>
              <a:rPr lang="en-US" sz="2600" b="1" dirty="0">
                <a:solidFill>
                  <a:schemeClr val="accent3"/>
                </a:solidFill>
              </a:rPr>
              <a:t>4</a:t>
            </a:r>
            <a:endParaRPr lang="en-US" sz="2600" dirty="0"/>
          </a:p>
          <a:p>
            <a:pPr indent="0" marL="0">
              <a:buNone/>
            </a:pPr>
            <a:r>
              <a:rPr lang="en-US" sz="1050" dirty="0">
                <a:solidFill>
                  <a:srgbClr val="7D8C8F"/>
                </a:solidFill>
              </a:rPr>
              <a:t>spoken AI conversation partners</a:t>
            </a:r>
            <a:endParaRPr lang="en-US" sz="2600" dirty="0"/>
          </a:p>
        </p:txBody>
      </p:sp>
      <p:sp>
        <p:nvSpPr>
          <p:cNvPr id="10" name="Stat 130"/>
          <p:cNvSpPr txBox="1"/>
          <p:nvPr/>
        </p:nvSpPr>
        <p:spPr>
          <a:xfrm>
            <a:off x="7369881" y="4800600"/>
            <a:ext cx="1999427" cy="777240"/>
          </a:xfrm>
          <a:prstGeom prst="rect">
            <a:avLst/>
          </a:prstGeom>
          <a:noFill/>
          <a:ln/>
        </p:spPr>
        <p:txBody>
          <a:bodyPr wrap="square" lIns="0" tIns="0" rIns="0" bIns="0" rtlCol="0" anchor="t"/>
          <a:lstStyle/>
          <a:p>
            <a:pPr indent="0" marL="0">
              <a:buNone/>
            </a:pPr>
            <a:r>
              <a:rPr lang="en-US" sz="2600" b="1" dirty="0">
                <a:solidFill>
                  <a:schemeClr val="accent3"/>
                </a:solidFill>
              </a:rPr>
              <a:t>26</a:t>
            </a:r>
            <a:endParaRPr lang="en-US" sz="2600" dirty="0"/>
          </a:p>
          <a:p>
            <a:pPr indent="0" marL="0">
              <a:buNone/>
            </a:pPr>
            <a:r>
              <a:rPr lang="en-US" sz="1050" dirty="0">
                <a:solidFill>
                  <a:srgbClr val="7D8C8F"/>
                </a:solidFill>
              </a:rPr>
              <a:t>practice and review quizzes</a:t>
            </a:r>
            <a:endParaRPr lang="en-US" sz="2600" dirty="0"/>
          </a:p>
        </p:txBody>
      </p:sp>
      <p:sp>
        <p:nvSpPr>
          <p:cNvPr id="11" name="Stat 131"/>
          <p:cNvSpPr txBox="1"/>
          <p:nvPr/>
        </p:nvSpPr>
        <p:spPr>
          <a:xfrm>
            <a:off x="9643628" y="4800600"/>
            <a:ext cx="1999427" cy="777240"/>
          </a:xfrm>
          <a:prstGeom prst="rect">
            <a:avLst/>
          </a:prstGeom>
          <a:noFill/>
          <a:ln/>
        </p:spPr>
        <p:txBody>
          <a:bodyPr wrap="square" lIns="0" tIns="0" rIns="0" bIns="0" rtlCol="0" anchor="t"/>
          <a:lstStyle/>
          <a:p>
            <a:pPr indent="0" marL="0">
              <a:buNone/>
            </a:pPr>
            <a:r>
              <a:rPr lang="en-US" sz="2600" b="1" dirty="0">
                <a:solidFill>
                  <a:schemeClr val="accent3"/>
                </a:solidFill>
              </a:rPr>
              <a:t>43</a:t>
            </a:r>
            <a:endParaRPr lang="en-US" sz="2600" dirty="0"/>
          </a:p>
          <a:p>
            <a:pPr indent="0" marL="0">
              <a:buNone/>
            </a:pPr>
            <a:r>
              <a:rPr lang="en-US" sz="1050" dirty="0">
                <a:solidFill>
                  <a:srgbClr val="7D8C8F"/>
                </a:solidFill>
              </a:rPr>
              <a:t>case-based questions in the final exam</a:t>
            </a:r>
            <a:endParaRPr lang="en-US" sz="2600" dirty="0"/>
          </a:p>
        </p:txBody>
      </p:sp>
      <p:sp>
        <p:nvSpPr>
          <p:cNvPr id="12" name="Caveat 132"/>
          <p:cNvSpPr txBox="1"/>
          <p:nvPr/>
        </p:nvSpPr>
        <p:spPr>
          <a:xfrm>
            <a:off x="548640" y="5715000"/>
            <a:ext cx="11094415" cy="365760"/>
          </a:xfrm>
          <a:prstGeom prst="rect">
            <a:avLst/>
          </a:prstGeom>
          <a:noFill/>
          <a:ln/>
        </p:spPr>
        <p:txBody>
          <a:bodyPr wrap="square" lIns="0" tIns="0" rIns="0" bIns="0" rtlCol="0" anchor="t"/>
          <a:lstStyle/>
          <a:p>
            <a:pPr indent="0" marL="0">
              <a:buNone/>
            </a:pPr>
            <a:r>
              <a:rPr lang="en-US" sz="1100" dirty="0">
                <a:solidFill>
                  <a:srgbClr val="7D8C8F"/>
                </a:solidFill>
              </a:rPr>
              <a:t>Every module follows the same rhythm: Study, Practise, Revise. Two external subject experts and a pedagogical lead reviewed the content throughout production.</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1"/>
                </a:solidFill>
              </a:rPr>
              <a:t>5 · FROM ONE COUNTRY TO FIVE LANGUAGES</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bg1"/>
                </a:solidFill>
              </a:rPr>
              <a:t>Finnish material, reused across the consortium</a:t>
            </a:r>
            <a:endParaRPr lang="en-US" sz="3000" dirty="0"/>
          </a:p>
        </p:txBody>
      </p:sp>
      <p:sp>
        <p:nvSpPr>
          <p:cNvPr id="5" name="Lead 133"/>
          <p:cNvSpPr txBox="1"/>
          <p:nvPr/>
        </p:nvSpPr>
        <p:spPr>
          <a:xfrm>
            <a:off x="548640" y="1463040"/>
            <a:ext cx="10428750" cy="777240"/>
          </a:xfrm>
          <a:prstGeom prst="rect">
            <a:avLst/>
          </a:prstGeom>
          <a:noFill/>
          <a:ln/>
        </p:spPr>
        <p:txBody>
          <a:bodyPr wrap="square" lIns="0" tIns="0" rIns="0" bIns="0" rtlCol="0" anchor="t"/>
          <a:lstStyle/>
          <a:p>
            <a:pPr indent="0" marL="0">
              <a:buNone/>
            </a:pPr>
            <a:r>
              <a:rPr lang="en-US" sz="1600" dirty="0">
                <a:solidFill>
                  <a:schemeClr val="accent6"/>
                </a:solidFill>
              </a:rPr>
              <a:t>The NEXR demonstrator module wraps XR exercises from Finnish practical-nurse courses in a short theory shell, in English, Finnish, German, Spanish and Croatian. Text and narration are translated and re-voiced.</a:t>
            </a:r>
            <a:endParaRPr lang="en-US" sz="1600" dirty="0"/>
          </a:p>
        </p:txBody>
      </p:sp>
      <p:sp>
        <p:nvSpPr>
          <p:cNvPr id="6" name="Card 134"/>
          <p:cNvSpPr/>
          <p:nvPr/>
        </p:nvSpPr>
        <p:spPr>
          <a:xfrm>
            <a:off x="548640" y="2423160"/>
            <a:ext cx="2602154" cy="1828800"/>
          </a:xfrm>
          <a:prstGeom prst="roundRect">
            <a:avLst>
              <a:gd name="adj" fmla="val 7000"/>
            </a:avLst>
          </a:prstGeom>
          <a:solidFill>
            <a:srgbClr val="FFFFFF">
              <a:alpha val="6000"/>
            </a:srgbClr>
          </a:solidFill>
          <a:ln w="9525">
            <a:solidFill>
              <a:srgbClr val="FFFFFF">
                <a:alpha val="18000"/>
              </a:srgbClr>
            </a:solidFill>
            <a:prstDash val="solid"/>
          </a:ln>
        </p:spPr>
      </p:sp>
      <p:sp>
        <p:nvSpPr>
          <p:cNvPr id="7" name="Badge 135"/>
          <p:cNvSpPr txBox="1"/>
          <p:nvPr/>
        </p:nvSpPr>
        <p:spPr>
          <a:xfrm>
            <a:off x="731520" y="2606040"/>
            <a:ext cx="384048" cy="384048"/>
          </a:xfrm>
          <a:prstGeom prst="ellipse">
            <a:avLst/>
          </a:prstGeom>
          <a:solidFill>
            <a:schemeClr val="accent1"/>
          </a:solidFill>
          <a:ln/>
        </p:spPr>
        <p:txBody>
          <a:bodyPr wrap="square" lIns="0" tIns="0" rIns="0" bIns="0" rtlCol="0" anchor="ctr"/>
          <a:lstStyle/>
          <a:p>
            <a:pPr algn="ctr" indent="0" marL="0">
              <a:buNone/>
            </a:pPr>
            <a:r>
              <a:rPr lang="en-US" sz="900" b="1" dirty="0">
                <a:solidFill>
                  <a:schemeClr val="tx2"/>
                </a:solidFill>
              </a:rPr>
              <a:t>1.1</a:t>
            </a:r>
            <a:endParaRPr lang="en-US" sz="900" dirty="0"/>
          </a:p>
        </p:txBody>
      </p:sp>
      <p:sp>
        <p:nvSpPr>
          <p:cNvPr id="8" name="Card title 136"/>
          <p:cNvSpPr txBox="1"/>
          <p:nvPr/>
        </p:nvSpPr>
        <p:spPr>
          <a:xfrm>
            <a:off x="731520" y="3081528"/>
            <a:ext cx="2236394" cy="457200"/>
          </a:xfrm>
          <a:prstGeom prst="rect">
            <a:avLst/>
          </a:prstGeom>
          <a:noFill/>
          <a:ln/>
        </p:spPr>
        <p:txBody>
          <a:bodyPr wrap="square" lIns="0" tIns="0" rIns="0" bIns="0" rtlCol="0" anchor="t"/>
          <a:lstStyle/>
          <a:p>
            <a:pPr indent="0" marL="0">
              <a:buNone/>
            </a:pPr>
            <a:r>
              <a:rPr lang="en-US" sz="1400" b="1" dirty="0">
                <a:solidFill>
                  <a:schemeClr val="bg1"/>
                </a:solidFill>
              </a:rPr>
              <a:t>Dispensing medication into a pill organiser</a:t>
            </a:r>
            <a:endParaRPr lang="en-US" sz="1400" dirty="0"/>
          </a:p>
        </p:txBody>
      </p:sp>
      <p:sp>
        <p:nvSpPr>
          <p:cNvPr id="9" name="Card text 137"/>
          <p:cNvSpPr txBox="1"/>
          <p:nvPr/>
        </p:nvSpPr>
        <p:spPr>
          <a:xfrm>
            <a:off x="731520" y="3611880"/>
            <a:ext cx="2236394" cy="457200"/>
          </a:xfrm>
          <a:prstGeom prst="rect">
            <a:avLst/>
          </a:prstGeom>
          <a:noFill/>
          <a:ln/>
        </p:spPr>
        <p:txBody>
          <a:bodyPr wrap="square" lIns="0" tIns="0" rIns="0" bIns="0" rtlCol="0" anchor="t"/>
          <a:lstStyle/>
          <a:p>
            <a:pPr indent="0" marL="0">
              <a:spcAft>
                <a:spcPts val="400"/>
              </a:spcAft>
              <a:buNone/>
            </a:pPr>
            <a:r>
              <a:rPr lang="en-US" sz="1200" dirty="0">
                <a:solidFill>
                  <a:schemeClr val="accent6"/>
                </a:solidFill>
              </a:rPr>
              <a:t>360° simulation</a:t>
            </a:r>
            <a:endParaRPr lang="en-US" sz="1200" dirty="0"/>
          </a:p>
        </p:txBody>
      </p:sp>
      <p:sp>
        <p:nvSpPr>
          <p:cNvPr id="10" name="Card 138"/>
          <p:cNvSpPr/>
          <p:nvPr/>
        </p:nvSpPr>
        <p:spPr>
          <a:xfrm>
            <a:off x="3379394" y="2423160"/>
            <a:ext cx="2602154" cy="1828800"/>
          </a:xfrm>
          <a:prstGeom prst="roundRect">
            <a:avLst>
              <a:gd name="adj" fmla="val 7000"/>
            </a:avLst>
          </a:prstGeom>
          <a:solidFill>
            <a:srgbClr val="FFFFFF">
              <a:alpha val="6000"/>
            </a:srgbClr>
          </a:solidFill>
          <a:ln w="9525">
            <a:solidFill>
              <a:srgbClr val="FFFFFF">
                <a:alpha val="18000"/>
              </a:srgbClr>
            </a:solidFill>
            <a:prstDash val="solid"/>
          </a:ln>
        </p:spPr>
      </p:sp>
      <p:sp>
        <p:nvSpPr>
          <p:cNvPr id="11" name="Badge 139"/>
          <p:cNvSpPr txBox="1"/>
          <p:nvPr/>
        </p:nvSpPr>
        <p:spPr>
          <a:xfrm>
            <a:off x="3562274" y="2606040"/>
            <a:ext cx="384048" cy="384048"/>
          </a:xfrm>
          <a:prstGeom prst="ellipse">
            <a:avLst/>
          </a:prstGeom>
          <a:solidFill>
            <a:schemeClr val="accent1"/>
          </a:solidFill>
          <a:ln/>
        </p:spPr>
        <p:txBody>
          <a:bodyPr wrap="square" lIns="0" tIns="0" rIns="0" bIns="0" rtlCol="0" anchor="ctr"/>
          <a:lstStyle/>
          <a:p>
            <a:pPr algn="ctr" indent="0" marL="0">
              <a:buNone/>
            </a:pPr>
            <a:r>
              <a:rPr lang="en-US" sz="900" b="1" dirty="0">
                <a:solidFill>
                  <a:schemeClr val="tx2"/>
                </a:solidFill>
              </a:rPr>
              <a:t>2.3</a:t>
            </a:r>
            <a:endParaRPr lang="en-US" sz="900" dirty="0"/>
          </a:p>
        </p:txBody>
      </p:sp>
      <p:sp>
        <p:nvSpPr>
          <p:cNvPr id="12" name="Card title 140"/>
          <p:cNvSpPr txBox="1"/>
          <p:nvPr/>
        </p:nvSpPr>
        <p:spPr>
          <a:xfrm>
            <a:off x="3562274" y="3081528"/>
            <a:ext cx="2236394" cy="457200"/>
          </a:xfrm>
          <a:prstGeom prst="rect">
            <a:avLst/>
          </a:prstGeom>
          <a:noFill/>
          <a:ln/>
        </p:spPr>
        <p:txBody>
          <a:bodyPr wrap="square" lIns="0" tIns="0" rIns="0" bIns="0" rtlCol="0" anchor="t"/>
          <a:lstStyle/>
          <a:p>
            <a:pPr indent="0" marL="0">
              <a:buNone/>
            </a:pPr>
            <a:r>
              <a:rPr lang="en-US" sz="1400" b="1" dirty="0">
                <a:solidFill>
                  <a:schemeClr val="bg1"/>
                </a:solidFill>
              </a:rPr>
              <a:t>Considering sexuality in care work</a:t>
            </a:r>
            <a:endParaRPr lang="en-US" sz="1400" dirty="0"/>
          </a:p>
        </p:txBody>
      </p:sp>
      <p:sp>
        <p:nvSpPr>
          <p:cNvPr id="13" name="Card text 141"/>
          <p:cNvSpPr txBox="1"/>
          <p:nvPr/>
        </p:nvSpPr>
        <p:spPr>
          <a:xfrm>
            <a:off x="3562274" y="3611880"/>
            <a:ext cx="2236394" cy="457200"/>
          </a:xfrm>
          <a:prstGeom prst="rect">
            <a:avLst/>
          </a:prstGeom>
          <a:noFill/>
          <a:ln/>
        </p:spPr>
        <p:txBody>
          <a:bodyPr wrap="square" lIns="0" tIns="0" rIns="0" bIns="0" rtlCol="0" anchor="t"/>
          <a:lstStyle/>
          <a:p>
            <a:pPr indent="0" marL="0">
              <a:spcAft>
                <a:spcPts val="400"/>
              </a:spcAft>
              <a:buNone/>
            </a:pPr>
            <a:r>
              <a:rPr lang="en-US" sz="1200" dirty="0">
                <a:solidFill>
                  <a:schemeClr val="accent6"/>
                </a:solidFill>
              </a:rPr>
              <a:t>360° video simulation</a:t>
            </a:r>
            <a:endParaRPr lang="en-US" sz="1200" dirty="0"/>
          </a:p>
        </p:txBody>
      </p:sp>
      <p:sp>
        <p:nvSpPr>
          <p:cNvPr id="14" name="Card 142"/>
          <p:cNvSpPr/>
          <p:nvPr/>
        </p:nvSpPr>
        <p:spPr>
          <a:xfrm>
            <a:off x="6210148" y="2423160"/>
            <a:ext cx="2602154" cy="1828800"/>
          </a:xfrm>
          <a:prstGeom prst="roundRect">
            <a:avLst>
              <a:gd name="adj" fmla="val 7000"/>
            </a:avLst>
          </a:prstGeom>
          <a:solidFill>
            <a:srgbClr val="FFFFFF">
              <a:alpha val="6000"/>
            </a:srgbClr>
          </a:solidFill>
          <a:ln w="9525">
            <a:solidFill>
              <a:srgbClr val="FFFFFF">
                <a:alpha val="18000"/>
              </a:srgbClr>
            </a:solidFill>
            <a:prstDash val="solid"/>
          </a:ln>
        </p:spPr>
      </p:sp>
      <p:sp>
        <p:nvSpPr>
          <p:cNvPr id="15" name="Badge 143"/>
          <p:cNvSpPr txBox="1"/>
          <p:nvPr/>
        </p:nvSpPr>
        <p:spPr>
          <a:xfrm>
            <a:off x="6393028" y="2606040"/>
            <a:ext cx="384048" cy="384048"/>
          </a:xfrm>
          <a:prstGeom prst="ellipse">
            <a:avLst/>
          </a:prstGeom>
          <a:solidFill>
            <a:schemeClr val="accent1"/>
          </a:solidFill>
          <a:ln/>
        </p:spPr>
        <p:txBody>
          <a:bodyPr wrap="square" lIns="0" tIns="0" rIns="0" bIns="0" rtlCol="0" anchor="ctr"/>
          <a:lstStyle/>
          <a:p>
            <a:pPr algn="ctr" indent="0" marL="0">
              <a:buNone/>
            </a:pPr>
            <a:r>
              <a:rPr lang="en-US" sz="900" b="1" dirty="0">
                <a:solidFill>
                  <a:schemeClr val="tx2"/>
                </a:solidFill>
              </a:rPr>
              <a:t>3.2</a:t>
            </a:r>
            <a:endParaRPr lang="en-US" sz="900" dirty="0"/>
          </a:p>
        </p:txBody>
      </p:sp>
      <p:sp>
        <p:nvSpPr>
          <p:cNvPr id="16" name="Card title 144"/>
          <p:cNvSpPr txBox="1"/>
          <p:nvPr/>
        </p:nvSpPr>
        <p:spPr>
          <a:xfrm>
            <a:off x="6393028" y="3081528"/>
            <a:ext cx="2236394" cy="457200"/>
          </a:xfrm>
          <a:prstGeom prst="rect">
            <a:avLst/>
          </a:prstGeom>
          <a:noFill/>
          <a:ln/>
        </p:spPr>
        <p:txBody>
          <a:bodyPr wrap="square" lIns="0" tIns="0" rIns="0" bIns="0" rtlCol="0" anchor="t"/>
          <a:lstStyle/>
          <a:p>
            <a:pPr indent="0" marL="0">
              <a:buNone/>
            </a:pPr>
            <a:r>
              <a:rPr lang="en-US" sz="1400" b="1" dirty="0">
                <a:solidFill>
                  <a:schemeClr val="bg1"/>
                </a:solidFill>
              </a:rPr>
              <a:t>Substance and medication interactions</a:t>
            </a:r>
            <a:endParaRPr lang="en-US" sz="1400" dirty="0"/>
          </a:p>
        </p:txBody>
      </p:sp>
      <p:sp>
        <p:nvSpPr>
          <p:cNvPr id="17" name="Card text 145"/>
          <p:cNvSpPr txBox="1"/>
          <p:nvPr/>
        </p:nvSpPr>
        <p:spPr>
          <a:xfrm>
            <a:off x="6393028" y="3611880"/>
            <a:ext cx="2236394" cy="457200"/>
          </a:xfrm>
          <a:prstGeom prst="rect">
            <a:avLst/>
          </a:prstGeom>
          <a:noFill/>
          <a:ln/>
        </p:spPr>
        <p:txBody>
          <a:bodyPr wrap="square" lIns="0" tIns="0" rIns="0" bIns="0" rtlCol="0" anchor="t"/>
          <a:lstStyle/>
          <a:p>
            <a:pPr indent="0" marL="0">
              <a:spcAft>
                <a:spcPts val="400"/>
              </a:spcAft>
              <a:buNone/>
            </a:pPr>
            <a:r>
              <a:rPr lang="en-US" sz="1200" dirty="0">
                <a:solidFill>
                  <a:schemeClr val="accent6"/>
                </a:solidFill>
              </a:rPr>
              <a:t>Interactive micro-simulation</a:t>
            </a:r>
            <a:endParaRPr lang="en-US" sz="1200" dirty="0"/>
          </a:p>
        </p:txBody>
      </p:sp>
      <p:sp>
        <p:nvSpPr>
          <p:cNvPr id="18" name="Card 146"/>
          <p:cNvSpPr/>
          <p:nvPr/>
        </p:nvSpPr>
        <p:spPr>
          <a:xfrm>
            <a:off x="9040901" y="2423160"/>
            <a:ext cx="2602154" cy="1828800"/>
          </a:xfrm>
          <a:prstGeom prst="roundRect">
            <a:avLst>
              <a:gd name="adj" fmla="val 7000"/>
            </a:avLst>
          </a:prstGeom>
          <a:solidFill>
            <a:srgbClr val="FFFFFF">
              <a:alpha val="6000"/>
            </a:srgbClr>
          </a:solidFill>
          <a:ln w="9525">
            <a:solidFill>
              <a:srgbClr val="FFFFFF">
                <a:alpha val="18000"/>
              </a:srgbClr>
            </a:solidFill>
            <a:prstDash val="solid"/>
          </a:ln>
        </p:spPr>
      </p:sp>
      <p:sp>
        <p:nvSpPr>
          <p:cNvPr id="19" name="Badge 147"/>
          <p:cNvSpPr txBox="1"/>
          <p:nvPr/>
        </p:nvSpPr>
        <p:spPr>
          <a:xfrm>
            <a:off x="9223781" y="2606040"/>
            <a:ext cx="384048" cy="384048"/>
          </a:xfrm>
          <a:prstGeom prst="ellipse">
            <a:avLst/>
          </a:prstGeom>
          <a:solidFill>
            <a:schemeClr val="accent1"/>
          </a:solidFill>
          <a:ln/>
        </p:spPr>
        <p:txBody>
          <a:bodyPr wrap="square" lIns="0" tIns="0" rIns="0" bIns="0" rtlCol="0" anchor="ctr"/>
          <a:lstStyle/>
          <a:p>
            <a:pPr algn="ctr" indent="0" marL="0">
              <a:buNone/>
            </a:pPr>
            <a:r>
              <a:rPr lang="en-US" sz="900" b="1" dirty="0">
                <a:solidFill>
                  <a:schemeClr val="tx2"/>
                </a:solidFill>
              </a:rPr>
              <a:t>5.1</a:t>
            </a:r>
            <a:endParaRPr lang="en-US" sz="900" dirty="0"/>
          </a:p>
        </p:txBody>
      </p:sp>
      <p:sp>
        <p:nvSpPr>
          <p:cNvPr id="20" name="Card title 148"/>
          <p:cNvSpPr txBox="1"/>
          <p:nvPr/>
        </p:nvSpPr>
        <p:spPr>
          <a:xfrm>
            <a:off x="9223781" y="3081528"/>
            <a:ext cx="2236394" cy="457200"/>
          </a:xfrm>
          <a:prstGeom prst="rect">
            <a:avLst/>
          </a:prstGeom>
          <a:noFill/>
          <a:ln/>
        </p:spPr>
        <p:txBody>
          <a:bodyPr wrap="square" lIns="0" tIns="0" rIns="0" bIns="0" rtlCol="0" anchor="t"/>
          <a:lstStyle/>
          <a:p>
            <a:pPr indent="0" marL="0">
              <a:buNone/>
            </a:pPr>
            <a:r>
              <a:rPr lang="en-US" sz="1400" b="1" dirty="0">
                <a:solidFill>
                  <a:schemeClr val="bg1"/>
                </a:solidFill>
              </a:rPr>
              <a:t>Acute deterioration in home care</a:t>
            </a:r>
            <a:endParaRPr lang="en-US" sz="1400" dirty="0"/>
          </a:p>
        </p:txBody>
      </p:sp>
      <p:sp>
        <p:nvSpPr>
          <p:cNvPr id="21" name="Card text 149"/>
          <p:cNvSpPr txBox="1"/>
          <p:nvPr/>
        </p:nvSpPr>
        <p:spPr>
          <a:xfrm>
            <a:off x="9223781" y="3611880"/>
            <a:ext cx="2236394" cy="457200"/>
          </a:xfrm>
          <a:prstGeom prst="rect">
            <a:avLst/>
          </a:prstGeom>
          <a:noFill/>
          <a:ln/>
        </p:spPr>
        <p:txBody>
          <a:bodyPr wrap="square" lIns="0" tIns="0" rIns="0" bIns="0" rtlCol="0" anchor="t"/>
          <a:lstStyle/>
          <a:p>
            <a:pPr indent="0" marL="0">
              <a:spcAft>
                <a:spcPts val="400"/>
              </a:spcAft>
              <a:buNone/>
            </a:pPr>
            <a:r>
              <a:rPr lang="en-US" sz="1200" dirty="0">
                <a:solidFill>
                  <a:schemeClr val="accent6"/>
                </a:solidFill>
              </a:rPr>
              <a:t>360° simulation with a speaking patient, new for NEXR</a:t>
            </a:r>
            <a:endParaRPr lang="en-US" sz="1200" dirty="0"/>
          </a:p>
        </p:txBody>
      </p:sp>
      <p:sp>
        <p:nvSpPr>
          <p:cNvPr id="22" name="Pill 150"/>
          <p:cNvSpPr txBox="1"/>
          <p:nvPr/>
        </p:nvSpPr>
        <p:spPr>
          <a:xfrm>
            <a:off x="548640" y="4526280"/>
            <a:ext cx="2043684" cy="329184"/>
          </a:xfrm>
          <a:prstGeom prst="roundRect">
            <a:avLst>
              <a:gd name="adj" fmla="val 50000"/>
            </a:avLst>
          </a:prstGeom>
          <a:solidFill>
            <a:srgbClr val="0CD0A4">
              <a:alpha val="20000"/>
            </a:srgbClr>
          </a:solidFill>
          <a:ln/>
        </p:spPr>
        <p:txBody>
          <a:bodyPr wrap="square" lIns="0" tIns="0" rIns="0" bIns="0" rtlCol="0" anchor="ctr"/>
          <a:lstStyle/>
          <a:p>
            <a:pPr algn="ctr" indent="0" marL="0">
              <a:buNone/>
            </a:pPr>
            <a:r>
              <a:rPr lang="en-US" sz="1100" b="1" dirty="0">
                <a:solidFill>
                  <a:schemeClr val="accent1"/>
                </a:solidFill>
              </a:rPr>
              <a:t>Medication management</a:t>
            </a:r>
            <a:endParaRPr lang="en-US" sz="1100" dirty="0"/>
          </a:p>
        </p:txBody>
      </p:sp>
      <p:sp>
        <p:nvSpPr>
          <p:cNvPr id="23" name="Pill 151"/>
          <p:cNvSpPr txBox="1"/>
          <p:nvPr/>
        </p:nvSpPr>
        <p:spPr>
          <a:xfrm>
            <a:off x="2729484" y="4526280"/>
            <a:ext cx="2199132" cy="329184"/>
          </a:xfrm>
          <a:prstGeom prst="roundRect">
            <a:avLst>
              <a:gd name="adj" fmla="val 50000"/>
            </a:avLst>
          </a:prstGeom>
          <a:solidFill>
            <a:srgbClr val="0CD0A4">
              <a:alpha val="20000"/>
            </a:srgbClr>
          </a:solidFill>
          <a:ln/>
        </p:spPr>
        <p:txBody>
          <a:bodyPr wrap="square" lIns="0" tIns="0" rIns="0" bIns="0" rtlCol="0" anchor="ctr"/>
          <a:lstStyle/>
          <a:p>
            <a:pPr algn="ctr" indent="0" marL="0">
              <a:buNone/>
            </a:pPr>
            <a:r>
              <a:rPr lang="en-US" sz="1100" b="1" dirty="0">
                <a:solidFill>
                  <a:schemeClr val="accent1"/>
                </a:solidFill>
              </a:rPr>
              <a:t>Encountering the client</a:t>
            </a:r>
            <a:endParaRPr lang="en-US" sz="1100" dirty="0"/>
          </a:p>
        </p:txBody>
      </p:sp>
      <p:sp>
        <p:nvSpPr>
          <p:cNvPr id="24" name="Pill 152"/>
          <p:cNvSpPr txBox="1"/>
          <p:nvPr/>
        </p:nvSpPr>
        <p:spPr>
          <a:xfrm>
            <a:off x="5065776" y="4526280"/>
            <a:ext cx="2587752" cy="329184"/>
          </a:xfrm>
          <a:prstGeom prst="roundRect">
            <a:avLst>
              <a:gd name="adj" fmla="val 50000"/>
            </a:avLst>
          </a:prstGeom>
          <a:solidFill>
            <a:srgbClr val="0CD0A4">
              <a:alpha val="20000"/>
            </a:srgbClr>
          </a:solidFill>
          <a:ln/>
        </p:spPr>
        <p:txBody>
          <a:bodyPr wrap="square" lIns="0" tIns="0" rIns="0" bIns="0" rtlCol="0" anchor="ctr"/>
          <a:lstStyle/>
          <a:p>
            <a:pPr algn="ctr" indent="0" marL="0">
              <a:buNone/>
            </a:pPr>
            <a:r>
              <a:rPr lang="en-US" sz="1100" b="1" dirty="0">
                <a:solidFill>
                  <a:schemeClr val="accent1"/>
                </a:solidFill>
              </a:rPr>
              <a:t>Substances and mental health</a:t>
            </a:r>
            <a:endParaRPr lang="en-US" sz="1100" dirty="0"/>
          </a:p>
        </p:txBody>
      </p:sp>
      <p:sp>
        <p:nvSpPr>
          <p:cNvPr id="25" name="Pill 153"/>
          <p:cNvSpPr txBox="1"/>
          <p:nvPr/>
        </p:nvSpPr>
        <p:spPr>
          <a:xfrm>
            <a:off x="7790688" y="4526280"/>
            <a:ext cx="1421892" cy="329184"/>
          </a:xfrm>
          <a:prstGeom prst="roundRect">
            <a:avLst>
              <a:gd name="adj" fmla="val 50000"/>
            </a:avLst>
          </a:prstGeom>
          <a:solidFill>
            <a:srgbClr val="0CD0A4">
              <a:alpha val="20000"/>
            </a:srgbClr>
          </a:solidFill>
          <a:ln/>
        </p:spPr>
        <p:txBody>
          <a:bodyPr wrap="square" lIns="0" tIns="0" rIns="0" bIns="0" rtlCol="0" anchor="ctr"/>
          <a:lstStyle/>
          <a:p>
            <a:pPr algn="ctr" indent="0" marL="0">
              <a:buNone/>
            </a:pPr>
            <a:r>
              <a:rPr lang="en-US" sz="1100" b="1" dirty="0">
                <a:solidFill>
                  <a:schemeClr val="accent1"/>
                </a:solidFill>
              </a:rPr>
              <a:t>XR in nursing</a:t>
            </a:r>
            <a:endParaRPr lang="en-US" sz="1100" dirty="0"/>
          </a:p>
        </p:txBody>
      </p:sp>
      <p:sp>
        <p:nvSpPr>
          <p:cNvPr id="26" name="Pill 154"/>
          <p:cNvSpPr txBox="1"/>
          <p:nvPr/>
        </p:nvSpPr>
        <p:spPr>
          <a:xfrm>
            <a:off x="9349740" y="4526280"/>
            <a:ext cx="1655064" cy="329184"/>
          </a:xfrm>
          <a:prstGeom prst="roundRect">
            <a:avLst>
              <a:gd name="adj" fmla="val 50000"/>
            </a:avLst>
          </a:prstGeom>
          <a:solidFill>
            <a:srgbClr val="0CD0A4">
              <a:alpha val="20000"/>
            </a:srgbClr>
          </a:solidFill>
          <a:ln/>
        </p:spPr>
        <p:txBody>
          <a:bodyPr wrap="square" lIns="0" tIns="0" rIns="0" bIns="0" rtlCol="0" anchor="ctr"/>
          <a:lstStyle/>
          <a:p>
            <a:pPr algn="ctr" indent="0" marL="0">
              <a:buNone/>
            </a:pPr>
            <a:r>
              <a:rPr lang="en-US" sz="1100" b="1" dirty="0">
                <a:solidFill>
                  <a:schemeClr val="accent1"/>
                </a:solidFill>
              </a:rPr>
              <a:t>Acute situations</a:t>
            </a:r>
            <a:endParaRPr lang="en-US" sz="1100" dirty="0"/>
          </a:p>
        </p:txBody>
      </p:sp>
      <p:sp>
        <p:nvSpPr>
          <p:cNvPr id="27" name="Caveat 155"/>
          <p:cNvSpPr txBox="1"/>
          <p:nvPr/>
        </p:nvSpPr>
        <p:spPr>
          <a:xfrm>
            <a:off x="548640" y="5074920"/>
            <a:ext cx="11094415" cy="411480"/>
          </a:xfrm>
          <a:prstGeom prst="rect">
            <a:avLst/>
          </a:prstGeom>
          <a:noFill/>
          <a:ln/>
        </p:spPr>
        <p:txBody>
          <a:bodyPr wrap="square" lIns="0" tIns="0" rIns="0" bIns="0" rtlCol="0" anchor="t"/>
          <a:lstStyle/>
          <a:p>
            <a:pPr indent="0" marL="0">
              <a:buNone/>
            </a:pPr>
            <a:r>
              <a:rPr lang="en-US" sz="1100" dirty="0">
                <a:solidFill>
                  <a:schemeClr val="accent6"/>
                </a:solidFill>
              </a:rPr>
              <a:t>The demonstrator has five areas with five topics each. Four topics are fully built; the rest are placeholders that show where the full module is heading.</a:t>
            </a:r>
            <a:endParaRPr lang="en-US" sz="11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6"/>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2"/>
                </a:solidFill>
              </a:rPr>
              <a:t>6 · AI USED CORRECTLY</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Used correctly means guardrails, not trust</a:t>
            </a:r>
            <a:endParaRPr lang="en-US" sz="3000" dirty="0"/>
          </a:p>
        </p:txBody>
      </p:sp>
      <p:sp>
        <p:nvSpPr>
          <p:cNvPr id="5" name="Card 156"/>
          <p:cNvSpPr/>
          <p:nvPr/>
        </p:nvSpPr>
        <p:spPr>
          <a:xfrm>
            <a:off x="548640" y="1463040"/>
            <a:ext cx="3545738" cy="2148840"/>
          </a:xfrm>
          <a:prstGeom prst="roundRect">
            <a:avLst>
              <a:gd name="adj" fmla="val 5957"/>
            </a:avLst>
          </a:prstGeom>
          <a:solidFill>
            <a:srgbClr val="FFFFFF"/>
          </a:solidFill>
          <a:ln w="9525">
            <a:solidFill>
              <a:srgbClr val="E4DED9"/>
            </a:solidFill>
            <a:prstDash val="solid"/>
          </a:ln>
        </p:spPr>
      </p:sp>
      <p:sp>
        <p:nvSpPr>
          <p:cNvPr id="6" name="Card title 157"/>
          <p:cNvSpPr txBox="1"/>
          <p:nvPr/>
        </p:nvSpPr>
        <p:spPr>
          <a:xfrm>
            <a:off x="731520" y="1645920"/>
            <a:ext cx="3179978" cy="310896"/>
          </a:xfrm>
          <a:prstGeom prst="rect">
            <a:avLst/>
          </a:prstGeom>
          <a:noFill/>
          <a:ln/>
        </p:spPr>
        <p:txBody>
          <a:bodyPr wrap="square" lIns="0" tIns="0" rIns="0" bIns="0" rtlCol="0" anchor="t"/>
          <a:lstStyle/>
          <a:p>
            <a:pPr indent="0" marL="0">
              <a:buNone/>
            </a:pPr>
            <a:r>
              <a:rPr lang="en-US" sz="1500" b="1" dirty="0">
                <a:solidFill>
                  <a:schemeClr val="tx1"/>
                </a:solidFill>
              </a:rPr>
              <a:t>Source tracing</a:t>
            </a:r>
            <a:endParaRPr lang="en-US" sz="1500" dirty="0"/>
          </a:p>
        </p:txBody>
      </p:sp>
      <p:sp>
        <p:nvSpPr>
          <p:cNvPr id="7" name="Card text 158"/>
          <p:cNvSpPr txBox="1"/>
          <p:nvPr/>
        </p:nvSpPr>
        <p:spPr>
          <a:xfrm>
            <a:off x="731520" y="2029968"/>
            <a:ext cx="3179978" cy="139903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Every factual claim in theory text is traced to a source and tagged by risk, so the expert reviews the riskiest claims first.</a:t>
            </a:r>
            <a:endParaRPr lang="en-US" sz="1300" dirty="0"/>
          </a:p>
        </p:txBody>
      </p:sp>
      <p:sp>
        <p:nvSpPr>
          <p:cNvPr id="8" name="Card 159"/>
          <p:cNvSpPr/>
          <p:nvPr/>
        </p:nvSpPr>
        <p:spPr>
          <a:xfrm>
            <a:off x="4322978" y="1463040"/>
            <a:ext cx="3545738" cy="2148840"/>
          </a:xfrm>
          <a:prstGeom prst="roundRect">
            <a:avLst>
              <a:gd name="adj" fmla="val 5957"/>
            </a:avLst>
          </a:prstGeom>
          <a:solidFill>
            <a:srgbClr val="E3F6F0"/>
          </a:solidFill>
          <a:ln w="9525">
            <a:solidFill>
              <a:srgbClr val="A8E3D3"/>
            </a:solidFill>
            <a:prstDash val="solid"/>
          </a:ln>
        </p:spPr>
      </p:sp>
      <p:sp>
        <p:nvSpPr>
          <p:cNvPr id="9" name="Card title 160"/>
          <p:cNvSpPr txBox="1"/>
          <p:nvPr/>
        </p:nvSpPr>
        <p:spPr>
          <a:xfrm>
            <a:off x="4505858" y="1645920"/>
            <a:ext cx="3179978" cy="310896"/>
          </a:xfrm>
          <a:prstGeom prst="rect">
            <a:avLst/>
          </a:prstGeom>
          <a:noFill/>
          <a:ln/>
        </p:spPr>
        <p:txBody>
          <a:bodyPr wrap="square" lIns="0" tIns="0" rIns="0" bIns="0" rtlCol="0" anchor="t"/>
          <a:lstStyle/>
          <a:p>
            <a:pPr indent="0" marL="0">
              <a:buNone/>
            </a:pPr>
            <a:r>
              <a:rPr lang="en-US" sz="1500" b="1" dirty="0">
                <a:solidFill>
                  <a:schemeClr val="tx1"/>
                </a:solidFill>
              </a:rPr>
              <a:t>Hallucination checks</a:t>
            </a:r>
            <a:endParaRPr lang="en-US" sz="1500" dirty="0"/>
          </a:p>
        </p:txBody>
      </p:sp>
      <p:sp>
        <p:nvSpPr>
          <p:cNvPr id="10" name="Card text 161"/>
          <p:cNvSpPr txBox="1"/>
          <p:nvPr/>
        </p:nvSpPr>
        <p:spPr>
          <a:xfrm>
            <a:off x="4505858" y="2029968"/>
            <a:ext cx="3179978" cy="139903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In a recent university project the brief contained an AI-suggested reading list of 10 sources. </a:t>
            </a:r>
            <a:pPr indent="0" marL="0">
              <a:spcAft>
                <a:spcPts val="400"/>
              </a:spcAft>
              <a:buNone/>
            </a:pPr>
            <a:r>
              <a:rPr lang="en-US" sz="1300" b="1" dirty="0">
                <a:solidFill>
                  <a:schemeClr val="tx1"/>
                </a:solidFill>
              </a:rPr>
              <a:t>6 did not exist.</a:t>
            </a:r>
            <a:pPr indent="0" marL="0">
              <a:spcAft>
                <a:spcPts val="400"/>
              </a:spcAft>
              <a:buNone/>
            </a:pPr>
            <a:r>
              <a:rPr lang="en-US" sz="1300" dirty="0">
                <a:solidFill>
                  <a:schemeClr val="accent5"/>
                </a:solidFill>
              </a:rPr>
              <a:t> The pipeline caught them and replaced them with verified sources.</a:t>
            </a:r>
            <a:endParaRPr lang="en-US" sz="1300" dirty="0"/>
          </a:p>
        </p:txBody>
      </p:sp>
      <p:sp>
        <p:nvSpPr>
          <p:cNvPr id="11" name="Card 162"/>
          <p:cNvSpPr/>
          <p:nvPr/>
        </p:nvSpPr>
        <p:spPr>
          <a:xfrm>
            <a:off x="8097317" y="1463040"/>
            <a:ext cx="3545738" cy="2148840"/>
          </a:xfrm>
          <a:prstGeom prst="roundRect">
            <a:avLst>
              <a:gd name="adj" fmla="val 5957"/>
            </a:avLst>
          </a:prstGeom>
          <a:solidFill>
            <a:srgbClr val="FFFFFF"/>
          </a:solidFill>
          <a:ln w="9525">
            <a:solidFill>
              <a:srgbClr val="E4DED9"/>
            </a:solidFill>
            <a:prstDash val="solid"/>
          </a:ln>
        </p:spPr>
      </p:sp>
      <p:sp>
        <p:nvSpPr>
          <p:cNvPr id="12" name="Card title 163"/>
          <p:cNvSpPr txBox="1"/>
          <p:nvPr/>
        </p:nvSpPr>
        <p:spPr>
          <a:xfrm>
            <a:off x="8280197" y="1645920"/>
            <a:ext cx="3179978" cy="310896"/>
          </a:xfrm>
          <a:prstGeom prst="rect">
            <a:avLst/>
          </a:prstGeom>
          <a:noFill/>
          <a:ln/>
        </p:spPr>
        <p:txBody>
          <a:bodyPr wrap="square" lIns="0" tIns="0" rIns="0" bIns="0" rtlCol="0" anchor="t"/>
          <a:lstStyle/>
          <a:p>
            <a:pPr indent="0" marL="0">
              <a:buNone/>
            </a:pPr>
            <a:r>
              <a:rPr lang="en-US" sz="1500" b="1" dirty="0">
                <a:solidFill>
                  <a:schemeClr val="tx1"/>
                </a:solidFill>
              </a:rPr>
              <a:t>Facts from databases, not memory</a:t>
            </a:r>
            <a:endParaRPr lang="en-US" sz="1500" dirty="0"/>
          </a:p>
        </p:txBody>
      </p:sp>
      <p:sp>
        <p:nvSpPr>
          <p:cNvPr id="13" name="Card text 164"/>
          <p:cNvSpPr txBox="1"/>
          <p:nvPr/>
        </p:nvSpPr>
        <p:spPr>
          <a:xfrm>
            <a:off x="8280197" y="2029968"/>
            <a:ext cx="3179978" cy="139903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Where errors look plausible, the AI must fetch: molecular structures come from PubChem with the formula checked, and the image model is not allowed to draw formulas.</a:t>
            </a:r>
            <a:endParaRPr lang="en-US" sz="1300" dirty="0"/>
          </a:p>
        </p:txBody>
      </p:sp>
      <p:sp>
        <p:nvSpPr>
          <p:cNvPr id="14" name="Card 165"/>
          <p:cNvSpPr/>
          <p:nvPr/>
        </p:nvSpPr>
        <p:spPr>
          <a:xfrm>
            <a:off x="548640" y="3840480"/>
            <a:ext cx="3545738" cy="2148840"/>
          </a:xfrm>
          <a:prstGeom prst="roundRect">
            <a:avLst>
              <a:gd name="adj" fmla="val 5957"/>
            </a:avLst>
          </a:prstGeom>
          <a:solidFill>
            <a:srgbClr val="FFFFFF"/>
          </a:solidFill>
          <a:ln w="9525">
            <a:solidFill>
              <a:srgbClr val="E4DED9"/>
            </a:solidFill>
            <a:prstDash val="solid"/>
          </a:ln>
        </p:spPr>
      </p:sp>
      <p:sp>
        <p:nvSpPr>
          <p:cNvPr id="15" name="Card title 166"/>
          <p:cNvSpPr txBox="1"/>
          <p:nvPr/>
        </p:nvSpPr>
        <p:spPr>
          <a:xfrm>
            <a:off x="731520" y="4023360"/>
            <a:ext cx="3179978" cy="310896"/>
          </a:xfrm>
          <a:prstGeom prst="rect">
            <a:avLst/>
          </a:prstGeom>
          <a:noFill/>
          <a:ln/>
        </p:spPr>
        <p:txBody>
          <a:bodyPr wrap="square" lIns="0" tIns="0" rIns="0" bIns="0" rtlCol="0" anchor="t"/>
          <a:lstStyle/>
          <a:p>
            <a:pPr indent="0" marL="0">
              <a:buNone/>
            </a:pPr>
            <a:r>
              <a:rPr lang="en-US" sz="1500" b="1" dirty="0">
                <a:solidFill>
                  <a:schemeClr val="tx1"/>
                </a:solidFill>
              </a:rPr>
              <a:t>Expert review</a:t>
            </a:r>
            <a:endParaRPr lang="en-US" sz="1500" dirty="0"/>
          </a:p>
        </p:txBody>
      </p:sp>
      <p:sp>
        <p:nvSpPr>
          <p:cNvPr id="16" name="Card text 167"/>
          <p:cNvSpPr txBox="1"/>
          <p:nvPr/>
        </p:nvSpPr>
        <p:spPr>
          <a:xfrm>
            <a:off x="731520" y="4407408"/>
            <a:ext cx="3179978" cy="139903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Subject experts read the material and their feedback is tracked item by item. Clinical localisation, such as protocols and emergency numbers, is a human decision.</a:t>
            </a:r>
            <a:endParaRPr lang="en-US" sz="1300" dirty="0"/>
          </a:p>
        </p:txBody>
      </p:sp>
      <p:sp>
        <p:nvSpPr>
          <p:cNvPr id="17" name="Card 168"/>
          <p:cNvSpPr/>
          <p:nvPr/>
        </p:nvSpPr>
        <p:spPr>
          <a:xfrm>
            <a:off x="4322978" y="3840480"/>
            <a:ext cx="3545738" cy="2148840"/>
          </a:xfrm>
          <a:prstGeom prst="roundRect">
            <a:avLst>
              <a:gd name="adj" fmla="val 5957"/>
            </a:avLst>
          </a:prstGeom>
          <a:solidFill>
            <a:srgbClr val="FFFFFF"/>
          </a:solidFill>
          <a:ln w="9525">
            <a:solidFill>
              <a:srgbClr val="E4DED9"/>
            </a:solidFill>
            <a:prstDash val="solid"/>
          </a:ln>
        </p:spPr>
      </p:sp>
      <p:sp>
        <p:nvSpPr>
          <p:cNvPr id="18" name="Card title 169"/>
          <p:cNvSpPr txBox="1"/>
          <p:nvPr/>
        </p:nvSpPr>
        <p:spPr>
          <a:xfrm>
            <a:off x="4505858" y="4023360"/>
            <a:ext cx="3179978" cy="310896"/>
          </a:xfrm>
          <a:prstGeom prst="rect">
            <a:avLst/>
          </a:prstGeom>
          <a:noFill/>
          <a:ln/>
        </p:spPr>
        <p:txBody>
          <a:bodyPr wrap="square" lIns="0" tIns="0" rIns="0" bIns="0" rtlCol="0" anchor="t"/>
          <a:lstStyle/>
          <a:p>
            <a:pPr indent="0" marL="0">
              <a:buNone/>
            </a:pPr>
            <a:r>
              <a:rPr lang="en-US" sz="1500" b="1" dirty="0">
                <a:solidFill>
                  <a:schemeClr val="tx1"/>
                </a:solidFill>
              </a:rPr>
              <a:t>Data protection</a:t>
            </a:r>
            <a:endParaRPr lang="en-US" sz="1500" dirty="0"/>
          </a:p>
        </p:txBody>
      </p:sp>
      <p:sp>
        <p:nvSpPr>
          <p:cNvPr id="19" name="Card text 170"/>
          <p:cNvSpPr txBox="1"/>
          <p:nvPr/>
        </p:nvSpPr>
        <p:spPr>
          <a:xfrm>
            <a:off x="4505858" y="4407408"/>
            <a:ext cx="3179978" cy="139903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Scenarios are fictional, so no patient or student data goes into authoring, which uses commercial AI models. The learning platform, published content and backups run on EU servers in Helsinki.</a:t>
            </a:r>
            <a:endParaRPr lang="en-US" sz="1300" dirty="0"/>
          </a:p>
        </p:txBody>
      </p:sp>
      <p:sp>
        <p:nvSpPr>
          <p:cNvPr id="20" name="Card 171"/>
          <p:cNvSpPr/>
          <p:nvPr/>
        </p:nvSpPr>
        <p:spPr>
          <a:xfrm>
            <a:off x="8097317" y="3840480"/>
            <a:ext cx="3545738" cy="2148840"/>
          </a:xfrm>
          <a:prstGeom prst="roundRect">
            <a:avLst>
              <a:gd name="adj" fmla="val 5957"/>
            </a:avLst>
          </a:prstGeom>
          <a:solidFill>
            <a:srgbClr val="E3F6F0"/>
          </a:solidFill>
          <a:ln w="9525">
            <a:solidFill>
              <a:srgbClr val="A8E3D3"/>
            </a:solidFill>
            <a:prstDash val="solid"/>
          </a:ln>
        </p:spPr>
      </p:sp>
      <p:sp>
        <p:nvSpPr>
          <p:cNvPr id="21" name="Card title 172"/>
          <p:cNvSpPr txBox="1"/>
          <p:nvPr/>
        </p:nvSpPr>
        <p:spPr>
          <a:xfrm>
            <a:off x="8280197" y="4023360"/>
            <a:ext cx="3179978" cy="310896"/>
          </a:xfrm>
          <a:prstGeom prst="rect">
            <a:avLst/>
          </a:prstGeom>
          <a:noFill/>
          <a:ln/>
        </p:spPr>
        <p:txBody>
          <a:bodyPr wrap="square" lIns="0" tIns="0" rIns="0" bIns="0" rtlCol="0" anchor="t"/>
          <a:lstStyle/>
          <a:p>
            <a:pPr indent="0" marL="0">
              <a:buNone/>
            </a:pPr>
            <a:r>
              <a:rPr lang="en-US" sz="1500" b="1" dirty="0">
                <a:solidFill>
                  <a:schemeClr val="tx1"/>
                </a:solidFill>
              </a:rPr>
              <a:t>The teacher stays the author</a:t>
            </a:r>
            <a:endParaRPr lang="en-US" sz="1500" dirty="0"/>
          </a:p>
        </p:txBody>
      </p:sp>
      <p:sp>
        <p:nvSpPr>
          <p:cNvPr id="22" name="Card text 173"/>
          <p:cNvSpPr txBox="1"/>
          <p:nvPr/>
        </p:nvSpPr>
        <p:spPr>
          <a:xfrm>
            <a:off x="8280197" y="4407408"/>
            <a:ext cx="3179978" cy="139903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The AI proposes, the teacher approves the plan before generation, and every text and position remains editable.</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1"/>
                </a:solidFill>
              </a:rPr>
              <a:t>7 · IMPLICATIONS</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bg1"/>
                </a:solidFill>
              </a:rPr>
              <a:t>What changes for teachers and institutions</a:t>
            </a:r>
            <a:endParaRPr lang="en-US" sz="3000" dirty="0"/>
          </a:p>
        </p:txBody>
      </p:sp>
      <p:sp>
        <p:nvSpPr>
          <p:cNvPr id="5" name="Card 174"/>
          <p:cNvSpPr/>
          <p:nvPr/>
        </p:nvSpPr>
        <p:spPr>
          <a:xfrm>
            <a:off x="548640" y="1463040"/>
            <a:ext cx="3545738" cy="2514600"/>
          </a:xfrm>
          <a:prstGeom prst="roundRect">
            <a:avLst>
              <a:gd name="adj" fmla="val 5091"/>
            </a:avLst>
          </a:prstGeom>
          <a:solidFill>
            <a:srgbClr val="FFFFFF">
              <a:alpha val="6000"/>
            </a:srgbClr>
          </a:solidFill>
          <a:ln w="9525">
            <a:solidFill>
              <a:srgbClr val="FFFFFF">
                <a:alpha val="18000"/>
              </a:srgbClr>
            </a:solidFill>
            <a:prstDash val="solid"/>
          </a:ln>
        </p:spPr>
      </p:sp>
      <p:sp>
        <p:nvSpPr>
          <p:cNvPr id="6" name="Card title 175"/>
          <p:cNvSpPr txBox="1"/>
          <p:nvPr/>
        </p:nvSpPr>
        <p:spPr>
          <a:xfrm>
            <a:off x="731520" y="1645920"/>
            <a:ext cx="3179978" cy="310896"/>
          </a:xfrm>
          <a:prstGeom prst="rect">
            <a:avLst/>
          </a:prstGeom>
          <a:noFill/>
          <a:ln/>
        </p:spPr>
        <p:txBody>
          <a:bodyPr wrap="square" lIns="0" tIns="0" rIns="0" bIns="0" rtlCol="0" anchor="t"/>
          <a:lstStyle/>
          <a:p>
            <a:pPr indent="0" marL="0">
              <a:buNone/>
            </a:pPr>
            <a:r>
              <a:rPr lang="en-US" sz="1500" b="1" dirty="0">
                <a:solidFill>
                  <a:schemeClr val="bg1"/>
                </a:solidFill>
              </a:rPr>
              <a:t>For teachers</a:t>
            </a:r>
            <a:endParaRPr lang="en-US" sz="1500" dirty="0"/>
          </a:p>
        </p:txBody>
      </p:sp>
      <p:sp>
        <p:nvSpPr>
          <p:cNvPr id="7" name="Card bullets 176"/>
          <p:cNvSpPr txBox="1"/>
          <p:nvPr/>
        </p:nvSpPr>
        <p:spPr>
          <a:xfrm>
            <a:off x="731520" y="2029968"/>
            <a:ext cx="3179978" cy="1764792"/>
          </a:xfrm>
          <a:prstGeom prst="rect">
            <a:avLst/>
          </a:prstGeom>
          <a:noFill/>
          <a:ln/>
        </p:spPr>
        <p:txBody>
          <a:bodyPr wrap="square" lIns="0" tIns="0" rIns="0" bIns="0" rtlCol="0" anchor="t"/>
          <a:lstStyle/>
          <a:p>
            <a:pPr marL="165100" indent="-165100">
              <a:spcAft>
                <a:spcPts val="500"/>
              </a:spcAft>
              <a:buSzPct val="100000"/>
              <a:buChar char="●"/>
            </a:pPr>
            <a:r>
              <a:rPr lang="en-US" sz="1350" dirty="0">
                <a:solidFill>
                  <a:schemeClr val="accent6"/>
                </a:solidFill>
              </a:rPr>
              <a:t>From operating tools to authoring and reviewing: describe, decide, check</a:t>
            </a:r>
            <a:endParaRPr lang="en-US" sz="1350" dirty="0"/>
          </a:p>
          <a:p>
            <a:pPr marL="165100" indent="-165100">
              <a:spcAft>
                <a:spcPts val="500"/>
              </a:spcAft>
              <a:buSzPct val="100000"/>
              <a:buChar char="●"/>
            </a:pPr>
            <a:r>
              <a:rPr lang="en-US" sz="1350" dirty="0">
                <a:solidFill>
                  <a:schemeClr val="accent6"/>
                </a:solidFill>
              </a:rPr>
              <a:t>Time moves from production to pedagogy and clinical accuracy</a:t>
            </a:r>
            <a:endParaRPr lang="en-US" sz="1350" dirty="0"/>
          </a:p>
          <a:p>
            <a:pPr marL="165100" indent="-165100">
              <a:spcAft>
                <a:spcPts val="500"/>
              </a:spcAft>
              <a:buSzPct val="100000"/>
              <a:buChar char="●"/>
            </a:pPr>
            <a:r>
              <a:rPr lang="en-US" sz="1350" dirty="0">
                <a:solidFill>
                  <a:schemeClr val="accent6"/>
                </a:solidFill>
              </a:rPr>
              <a:t>Scenarios can follow the curriculum instead of the other way round</a:t>
            </a:r>
            <a:endParaRPr lang="en-US" sz="1350" dirty="0"/>
          </a:p>
        </p:txBody>
      </p:sp>
      <p:sp>
        <p:nvSpPr>
          <p:cNvPr id="8" name="Card 177"/>
          <p:cNvSpPr/>
          <p:nvPr/>
        </p:nvSpPr>
        <p:spPr>
          <a:xfrm>
            <a:off x="4322978" y="1463040"/>
            <a:ext cx="3545738" cy="2514600"/>
          </a:xfrm>
          <a:prstGeom prst="roundRect">
            <a:avLst>
              <a:gd name="adj" fmla="val 5091"/>
            </a:avLst>
          </a:prstGeom>
          <a:solidFill>
            <a:srgbClr val="FFFFFF">
              <a:alpha val="6000"/>
            </a:srgbClr>
          </a:solidFill>
          <a:ln w="9525">
            <a:solidFill>
              <a:srgbClr val="FFFFFF">
                <a:alpha val="18000"/>
              </a:srgbClr>
            </a:solidFill>
            <a:prstDash val="solid"/>
          </a:ln>
        </p:spPr>
      </p:sp>
      <p:sp>
        <p:nvSpPr>
          <p:cNvPr id="9" name="Card title 178"/>
          <p:cNvSpPr txBox="1"/>
          <p:nvPr/>
        </p:nvSpPr>
        <p:spPr>
          <a:xfrm>
            <a:off x="4505858" y="1645920"/>
            <a:ext cx="3179978" cy="310896"/>
          </a:xfrm>
          <a:prstGeom prst="rect">
            <a:avLst/>
          </a:prstGeom>
          <a:noFill/>
          <a:ln/>
        </p:spPr>
        <p:txBody>
          <a:bodyPr wrap="square" lIns="0" tIns="0" rIns="0" bIns="0" rtlCol="0" anchor="t"/>
          <a:lstStyle/>
          <a:p>
            <a:pPr indent="0" marL="0">
              <a:buNone/>
            </a:pPr>
            <a:r>
              <a:rPr lang="en-US" sz="1500" b="1" dirty="0">
                <a:solidFill>
                  <a:schemeClr val="bg1"/>
                </a:solidFill>
              </a:rPr>
              <a:t>For institutions</a:t>
            </a:r>
            <a:endParaRPr lang="en-US" sz="1500" dirty="0"/>
          </a:p>
        </p:txBody>
      </p:sp>
      <p:sp>
        <p:nvSpPr>
          <p:cNvPr id="10" name="Card bullets 179"/>
          <p:cNvSpPr txBox="1"/>
          <p:nvPr/>
        </p:nvSpPr>
        <p:spPr>
          <a:xfrm>
            <a:off x="4505858" y="2029968"/>
            <a:ext cx="3179978" cy="1764792"/>
          </a:xfrm>
          <a:prstGeom prst="rect">
            <a:avLst/>
          </a:prstGeom>
          <a:noFill/>
          <a:ln/>
        </p:spPr>
        <p:txBody>
          <a:bodyPr wrap="square" lIns="0" tIns="0" rIns="0" bIns="0" rtlCol="0" anchor="t"/>
          <a:lstStyle/>
          <a:p>
            <a:pPr marL="165100" indent="-165100">
              <a:spcAft>
                <a:spcPts val="500"/>
              </a:spcAft>
              <a:buSzPct val="100000"/>
              <a:buChar char="●"/>
            </a:pPr>
            <a:r>
              <a:rPr lang="en-US" sz="1350" dirty="0">
                <a:solidFill>
                  <a:schemeClr val="accent6"/>
                </a:solidFill>
              </a:rPr>
              <a:t>XR stops being a one-off project</a:t>
            </a:r>
            <a:endParaRPr lang="en-US" sz="1350" dirty="0"/>
          </a:p>
          <a:p>
            <a:pPr marL="165100" indent="-165100">
              <a:spcAft>
                <a:spcPts val="500"/>
              </a:spcAft>
              <a:buSzPct val="100000"/>
              <a:buChar char="●"/>
            </a:pPr>
            <a:r>
              <a:rPr lang="en-US" sz="1350" dirty="0">
                <a:solidFill>
                  <a:schemeClr val="accent6"/>
                </a:solidFill>
              </a:rPr>
              <a:t>The method is written into the system, so quality does not depend on one enthusiast</a:t>
            </a:r>
            <a:endParaRPr lang="en-US" sz="1350" dirty="0"/>
          </a:p>
          <a:p>
            <a:pPr marL="165100" indent="-165100">
              <a:spcAft>
                <a:spcPts val="500"/>
              </a:spcAft>
              <a:buSzPct val="100000"/>
              <a:buChar char="●"/>
            </a:pPr>
            <a:r>
              <a:rPr lang="en-US" sz="1350" dirty="0">
                <a:solidFill>
                  <a:schemeClr val="accent6"/>
                </a:solidFill>
              </a:rPr>
              <a:t>Content can be adapted and translated for partners</a:t>
            </a:r>
            <a:endParaRPr lang="en-US" sz="1350" dirty="0"/>
          </a:p>
        </p:txBody>
      </p:sp>
      <p:sp>
        <p:nvSpPr>
          <p:cNvPr id="11" name="Card 180"/>
          <p:cNvSpPr/>
          <p:nvPr/>
        </p:nvSpPr>
        <p:spPr>
          <a:xfrm>
            <a:off x="8097317" y="1463040"/>
            <a:ext cx="3545738" cy="2514600"/>
          </a:xfrm>
          <a:prstGeom prst="roundRect">
            <a:avLst>
              <a:gd name="adj" fmla="val 5091"/>
            </a:avLst>
          </a:prstGeom>
          <a:solidFill>
            <a:srgbClr val="FFFFFF">
              <a:alpha val="6000"/>
            </a:srgbClr>
          </a:solidFill>
          <a:ln w="9525">
            <a:solidFill>
              <a:srgbClr val="FFFFFF">
                <a:alpha val="18000"/>
              </a:srgbClr>
            </a:solidFill>
            <a:prstDash val="solid"/>
          </a:ln>
        </p:spPr>
      </p:sp>
      <p:sp>
        <p:nvSpPr>
          <p:cNvPr id="12" name="Card title 181"/>
          <p:cNvSpPr txBox="1"/>
          <p:nvPr/>
        </p:nvSpPr>
        <p:spPr>
          <a:xfrm>
            <a:off x="8280197" y="1645920"/>
            <a:ext cx="3179978" cy="310896"/>
          </a:xfrm>
          <a:prstGeom prst="rect">
            <a:avLst/>
          </a:prstGeom>
          <a:noFill/>
          <a:ln/>
        </p:spPr>
        <p:txBody>
          <a:bodyPr wrap="square" lIns="0" tIns="0" rIns="0" bIns="0" rtlCol="0" anchor="t"/>
          <a:lstStyle/>
          <a:p>
            <a:pPr indent="0" marL="0">
              <a:buNone/>
            </a:pPr>
            <a:r>
              <a:rPr lang="en-US" sz="1500" b="1" dirty="0">
                <a:solidFill>
                  <a:schemeClr val="bg1"/>
                </a:solidFill>
              </a:rPr>
              <a:t>New competences needed</a:t>
            </a:r>
            <a:endParaRPr lang="en-US" sz="1500" dirty="0"/>
          </a:p>
        </p:txBody>
      </p:sp>
      <p:sp>
        <p:nvSpPr>
          <p:cNvPr id="13" name="Card bullets 182"/>
          <p:cNvSpPr txBox="1"/>
          <p:nvPr/>
        </p:nvSpPr>
        <p:spPr>
          <a:xfrm>
            <a:off x="8280197" y="2029968"/>
            <a:ext cx="3179978" cy="1764792"/>
          </a:xfrm>
          <a:prstGeom prst="rect">
            <a:avLst/>
          </a:prstGeom>
          <a:noFill/>
          <a:ln/>
        </p:spPr>
        <p:txBody>
          <a:bodyPr wrap="square" lIns="0" tIns="0" rIns="0" bIns="0" rtlCol="0" anchor="t"/>
          <a:lstStyle/>
          <a:p>
            <a:pPr marL="165100" indent="-165100">
              <a:spcAft>
                <a:spcPts val="500"/>
              </a:spcAft>
              <a:buSzPct val="100000"/>
              <a:buChar char="●"/>
            </a:pPr>
            <a:r>
              <a:rPr lang="en-US" sz="1350" dirty="0">
                <a:solidFill>
                  <a:schemeClr val="accent6"/>
                </a:solidFill>
              </a:rPr>
              <a:t>Describing a situation precisely</a:t>
            </a:r>
            <a:endParaRPr lang="en-US" sz="1350" dirty="0"/>
          </a:p>
          <a:p>
            <a:pPr marL="165100" indent="-165100">
              <a:spcAft>
                <a:spcPts val="500"/>
              </a:spcAft>
              <a:buSzPct val="100000"/>
              <a:buChar char="●"/>
            </a:pPr>
            <a:r>
              <a:rPr lang="en-US" sz="1350" dirty="0">
                <a:solidFill>
                  <a:schemeClr val="accent6"/>
                </a:solidFill>
              </a:rPr>
              <a:t>Reviewing AI output critically</a:t>
            </a:r>
            <a:endParaRPr lang="en-US" sz="1350" dirty="0"/>
          </a:p>
          <a:p>
            <a:pPr marL="165100" indent="-165100">
              <a:spcAft>
                <a:spcPts val="500"/>
              </a:spcAft>
              <a:buSzPct val="100000"/>
              <a:buChar char="●"/>
            </a:pPr>
            <a:r>
              <a:rPr lang="en-US" sz="1350" dirty="0">
                <a:solidFill>
                  <a:schemeClr val="accent6"/>
                </a:solidFill>
              </a:rPr>
              <a:t>A review routine with nursing experts</a:t>
            </a:r>
            <a:endParaRPr lang="en-US" sz="1350" dirty="0"/>
          </a:p>
          <a:p>
            <a:pPr marL="165100" indent="-165100">
              <a:spcAft>
                <a:spcPts val="500"/>
              </a:spcAft>
              <a:buSzPct val="100000"/>
              <a:buChar char="●"/>
            </a:pPr>
            <a:r>
              <a:rPr lang="en-US" sz="1350" dirty="0">
                <a:solidFill>
                  <a:schemeClr val="accent6"/>
                </a:solidFill>
              </a:rPr>
              <a:t>Informed decisions on AI providers and data</a:t>
            </a:r>
            <a:endParaRPr lang="en-US" sz="1350" dirty="0"/>
          </a:p>
        </p:txBody>
      </p:sp>
      <p:sp>
        <p:nvSpPr>
          <p:cNvPr id="14" name="Quote mark 183"/>
          <p:cNvSpPr txBox="1"/>
          <p:nvPr/>
        </p:nvSpPr>
        <p:spPr>
          <a:xfrm>
            <a:off x="548640" y="4233672"/>
            <a:ext cx="457200" cy="640080"/>
          </a:xfrm>
          <a:prstGeom prst="rect">
            <a:avLst/>
          </a:prstGeom>
          <a:noFill/>
          <a:ln/>
        </p:spPr>
        <p:txBody>
          <a:bodyPr wrap="square" lIns="0" tIns="0" rIns="0" bIns="0" rtlCol="0" anchor="t"/>
          <a:lstStyle/>
          <a:p>
            <a:pPr indent="0" marL="0">
              <a:buNone/>
            </a:pPr>
            <a:r>
              <a:rPr lang="en-US" sz="4800" b="1" dirty="0">
                <a:solidFill>
                  <a:schemeClr val="accent1"/>
                </a:solidFill>
              </a:rPr>
              <a:t>“</a:t>
            </a:r>
            <a:endParaRPr lang="en-US" sz="4800" dirty="0"/>
          </a:p>
        </p:txBody>
      </p:sp>
      <p:sp>
        <p:nvSpPr>
          <p:cNvPr id="15" name="Quote 184"/>
          <p:cNvSpPr txBox="1"/>
          <p:nvPr/>
        </p:nvSpPr>
        <p:spPr>
          <a:xfrm>
            <a:off x="1051560" y="4343400"/>
            <a:ext cx="9722815" cy="822960"/>
          </a:xfrm>
          <a:prstGeom prst="rect">
            <a:avLst/>
          </a:prstGeom>
          <a:noFill/>
          <a:ln/>
        </p:spPr>
        <p:txBody>
          <a:bodyPr wrap="square" lIns="0" tIns="0" rIns="0" bIns="0" rtlCol="0" anchor="t"/>
          <a:lstStyle/>
          <a:p>
            <a:pPr indent="0" marL="0">
              <a:spcAft>
                <a:spcPts val="400"/>
              </a:spcAft>
              <a:buNone/>
            </a:pPr>
            <a:r>
              <a:rPr lang="en-US" sz="1500" i="1" dirty="0">
                <a:solidFill>
                  <a:schemeClr val="bg1"/>
                </a:solidFill>
              </a:rPr>
              <a:t>Open questions for research: How does the teacher's role change? How do learners respond to AI-generated scenarios? The NEXR pilots in Austria and Spain will give the first evidence.</a:t>
            </a:r>
            <a:endParaRPr lang="en-US" sz="15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6"/>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2"/>
                </a:solidFill>
              </a:rPr>
              <a:t>8 · TRY IT YOURSELF</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tx1"/>
                </a:solidFill>
              </a:rPr>
              <a:t>Examples you can open</a:t>
            </a:r>
            <a:endParaRPr lang="en-US" sz="3000" dirty="0"/>
          </a:p>
        </p:txBody>
      </p:sp>
      <p:sp>
        <p:nvSpPr>
          <p:cNvPr id="5" name="Card 185"/>
          <p:cNvSpPr/>
          <p:nvPr/>
        </p:nvSpPr>
        <p:spPr>
          <a:xfrm>
            <a:off x="548640" y="1463040"/>
            <a:ext cx="2602154" cy="2103120"/>
          </a:xfrm>
          <a:prstGeom prst="roundRect">
            <a:avLst>
              <a:gd name="adj" fmla="val 6087"/>
            </a:avLst>
          </a:prstGeom>
          <a:solidFill>
            <a:srgbClr val="FFFFFF"/>
          </a:solidFill>
          <a:ln w="9525">
            <a:solidFill>
              <a:srgbClr val="E4DED9"/>
            </a:solidFill>
            <a:prstDash val="solid"/>
          </a:ln>
        </p:spPr>
      </p:sp>
      <p:sp>
        <p:nvSpPr>
          <p:cNvPr id="6" name="Card title 186"/>
          <p:cNvSpPr txBox="1"/>
          <p:nvPr/>
        </p:nvSpPr>
        <p:spPr>
          <a:xfrm>
            <a:off x="731520" y="1645920"/>
            <a:ext cx="2236394" cy="457200"/>
          </a:xfrm>
          <a:prstGeom prst="rect">
            <a:avLst/>
          </a:prstGeom>
          <a:noFill/>
          <a:ln/>
        </p:spPr>
        <p:txBody>
          <a:bodyPr wrap="square" lIns="0" tIns="0" rIns="0" bIns="0" rtlCol="0" anchor="t"/>
          <a:lstStyle/>
          <a:p>
            <a:pPr indent="0" marL="0">
              <a:buNone/>
            </a:pPr>
            <a:r>
              <a:rPr lang="en-US" sz="1400" b="1" dirty="0">
                <a:solidFill>
                  <a:schemeClr val="tx1"/>
                </a:solidFill>
              </a:rPr>
              <a:t>Hospital health and safety</a:t>
            </a:r>
            <a:endParaRPr lang="en-US" sz="1400" dirty="0"/>
          </a:p>
        </p:txBody>
      </p:sp>
      <p:sp>
        <p:nvSpPr>
          <p:cNvPr id="7" name="Card text 187"/>
          <p:cNvSpPr txBox="1"/>
          <p:nvPr/>
        </p:nvSpPr>
        <p:spPr>
          <a:xfrm>
            <a:off x="731520" y="2176272"/>
            <a:ext cx="2236394" cy="749808"/>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Spot the hazard: the live example from slide 9. 360° simulation with decisions and consequences.</a:t>
            </a:r>
            <a:endParaRPr lang="en-US" sz="1200" dirty="0"/>
          </a:p>
        </p:txBody>
      </p:sp>
      <p:sp>
        <p:nvSpPr>
          <p:cNvPr id="8" name="Button 188">
            <a:hlinkClick r:id="rId1" tooltip="https://s360.simuna.io/nexr/nursing-home/index.html"/>
          </p:cNvPr>
          <p:cNvSpPr txBox="1"/>
          <p:nvPr/>
        </p:nvSpPr>
        <p:spPr>
          <a:xfrm>
            <a:off x="731520" y="3035808"/>
            <a:ext cx="1051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u="none" dirty="0">
                <a:solidFill>
                  <a:schemeClr val="bg1"/>
                </a:solidFill>
                <a:hlinkClick r:id="rId1" invalidUrl="" action="" tgtFrame="" tooltip="https://s360.simuna.io/nexr/nursing-home/index.html" history="1" highlightClick="0" endSnd="0">
                  <a:extLst>
                    <a:ext uri="{A12FA001-AC4F-418D-AE19-62706E023703}">
                      <ahyp:hlinkClr xmlns:ahyp="http://schemas.microsoft.com/office/drawing/2018/hyperlinkcolor" val="tx"/>
                    </a:ext>
                  </a:extLst>
                </a:hlinkClick>
              </a:rPr>
              <a:t>Open →</a:t>
            </a:r>
            <a:endParaRPr lang="en-US" sz="1200" dirty="0"/>
          </a:p>
        </p:txBody>
      </p:sp>
      <p:sp>
        <p:nvSpPr>
          <p:cNvPr id="9" name="Card 189"/>
          <p:cNvSpPr/>
          <p:nvPr/>
        </p:nvSpPr>
        <p:spPr>
          <a:xfrm>
            <a:off x="3379394" y="1463040"/>
            <a:ext cx="2602154" cy="2103120"/>
          </a:xfrm>
          <a:prstGeom prst="roundRect">
            <a:avLst>
              <a:gd name="adj" fmla="val 6087"/>
            </a:avLst>
          </a:prstGeom>
          <a:solidFill>
            <a:srgbClr val="FFFFFF"/>
          </a:solidFill>
          <a:ln w="9525">
            <a:solidFill>
              <a:srgbClr val="E4DED9"/>
            </a:solidFill>
            <a:prstDash val="solid"/>
          </a:ln>
        </p:spPr>
      </p:sp>
      <p:sp>
        <p:nvSpPr>
          <p:cNvPr id="10" name="Card title 190"/>
          <p:cNvSpPr txBox="1"/>
          <p:nvPr/>
        </p:nvSpPr>
        <p:spPr>
          <a:xfrm>
            <a:off x="3562274" y="1645920"/>
            <a:ext cx="2236394" cy="457200"/>
          </a:xfrm>
          <a:prstGeom prst="rect">
            <a:avLst/>
          </a:prstGeom>
          <a:noFill/>
          <a:ln/>
        </p:spPr>
        <p:txBody>
          <a:bodyPr wrap="square" lIns="0" tIns="0" rIns="0" bIns="0" rtlCol="0" anchor="t"/>
          <a:lstStyle/>
          <a:p>
            <a:pPr indent="0" marL="0">
              <a:buNone/>
            </a:pPr>
            <a:r>
              <a:rPr lang="en-US" sz="1400" b="1" dirty="0">
                <a:solidFill>
                  <a:schemeClr val="tx1"/>
                </a:solidFill>
              </a:rPr>
              <a:t>Acute deterioration in home care</a:t>
            </a:r>
            <a:endParaRPr lang="en-US" sz="1400" dirty="0"/>
          </a:p>
        </p:txBody>
      </p:sp>
      <p:sp>
        <p:nvSpPr>
          <p:cNvPr id="11" name="Card text 191"/>
          <p:cNvSpPr txBox="1"/>
          <p:nvPr/>
        </p:nvSpPr>
        <p:spPr>
          <a:xfrm>
            <a:off x="3562274" y="2176272"/>
            <a:ext cx="2236394" cy="749808"/>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360° simulation with a speaking patient. Five languages.</a:t>
            </a:r>
            <a:endParaRPr lang="en-US" sz="1200" dirty="0"/>
          </a:p>
        </p:txBody>
      </p:sp>
      <p:sp>
        <p:nvSpPr>
          <p:cNvPr id="12" name="Button 192">
            <a:hlinkClick r:id="rId2" tooltip="https://media-3dbear.hel1.your-objectstorage.com/simuna-360/nexr-demo/akuutti-kotihoito/index.html#lang=en"/>
          </p:cNvPr>
          <p:cNvSpPr txBox="1"/>
          <p:nvPr/>
        </p:nvSpPr>
        <p:spPr>
          <a:xfrm>
            <a:off x="3562274" y="3035808"/>
            <a:ext cx="1051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u="none" dirty="0">
                <a:solidFill>
                  <a:schemeClr val="bg1"/>
                </a:solidFill>
                <a:hlinkClick r:id="rId2" invalidUrl="" action="" tgtFrame="" tooltip="https://media-3dbear.hel1.your-objectstorage.com/simuna-360/nexr-demo/akuutti-kotihoito/index.html#lang=en" history="1" highlightClick="0" endSnd="0">
                  <a:extLst>
                    <a:ext uri="{A12FA001-AC4F-418D-AE19-62706E023703}">
                      <ahyp:hlinkClr xmlns:ahyp="http://schemas.microsoft.com/office/drawing/2018/hyperlinkcolor" val="tx"/>
                    </a:ext>
                  </a:extLst>
                </a:hlinkClick>
              </a:rPr>
              <a:t>Open →</a:t>
            </a:r>
            <a:endParaRPr lang="en-US" sz="1200" dirty="0"/>
          </a:p>
        </p:txBody>
      </p:sp>
      <p:sp>
        <p:nvSpPr>
          <p:cNvPr id="13" name="Card 193"/>
          <p:cNvSpPr/>
          <p:nvPr/>
        </p:nvSpPr>
        <p:spPr>
          <a:xfrm>
            <a:off x="6210148" y="1463040"/>
            <a:ext cx="2602154" cy="2103120"/>
          </a:xfrm>
          <a:prstGeom prst="roundRect">
            <a:avLst>
              <a:gd name="adj" fmla="val 6087"/>
            </a:avLst>
          </a:prstGeom>
          <a:solidFill>
            <a:srgbClr val="FFFFFF"/>
          </a:solidFill>
          <a:ln w="9525">
            <a:solidFill>
              <a:srgbClr val="E4DED9"/>
            </a:solidFill>
            <a:prstDash val="solid"/>
          </a:ln>
        </p:spPr>
      </p:sp>
      <p:sp>
        <p:nvSpPr>
          <p:cNvPr id="14" name="Card title 194"/>
          <p:cNvSpPr txBox="1"/>
          <p:nvPr/>
        </p:nvSpPr>
        <p:spPr>
          <a:xfrm>
            <a:off x="6393028" y="1645920"/>
            <a:ext cx="2236394" cy="457200"/>
          </a:xfrm>
          <a:prstGeom prst="rect">
            <a:avLst/>
          </a:prstGeom>
          <a:noFill/>
          <a:ln/>
        </p:spPr>
        <p:txBody>
          <a:bodyPr wrap="square" lIns="0" tIns="0" rIns="0" bIns="0" rtlCol="0" anchor="t"/>
          <a:lstStyle/>
          <a:p>
            <a:pPr indent="0" marL="0">
              <a:buNone/>
            </a:pPr>
            <a:r>
              <a:rPr lang="en-US" sz="1400" b="1" dirty="0">
                <a:solidFill>
                  <a:schemeClr val="tx1"/>
                </a:solidFill>
              </a:rPr>
              <a:t>NEXR demonstrator module</a:t>
            </a:r>
            <a:endParaRPr lang="en-US" sz="1400" dirty="0"/>
          </a:p>
        </p:txBody>
      </p:sp>
      <p:sp>
        <p:nvSpPr>
          <p:cNvPr id="15" name="Card text 195"/>
          <p:cNvSpPr txBox="1"/>
          <p:nvPr/>
        </p:nvSpPr>
        <p:spPr>
          <a:xfrm>
            <a:off x="6393028" y="2176272"/>
            <a:ext cx="2236394" cy="749808"/>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Theory shell with four embedded XR exercises. Five languages.</a:t>
            </a:r>
            <a:endParaRPr lang="en-US" sz="1200" dirty="0"/>
          </a:p>
        </p:txBody>
      </p:sp>
      <p:sp>
        <p:nvSpPr>
          <p:cNvPr id="16" name="Button 196">
            <a:hlinkClick r:id="rId3" tooltip="https://media-3dbear.hel1.your-objectstorage.com/simuna-360/nexr-demo/oppimateriaali/index.html"/>
          </p:cNvPr>
          <p:cNvSpPr txBox="1"/>
          <p:nvPr/>
        </p:nvSpPr>
        <p:spPr>
          <a:xfrm>
            <a:off x="6393028" y="3035808"/>
            <a:ext cx="1051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u="none" dirty="0">
                <a:solidFill>
                  <a:schemeClr val="bg1"/>
                </a:solidFill>
                <a:hlinkClick r:id="rId3" invalidUrl="" action="" tgtFrame="" tooltip="https://media-3dbear.hel1.your-objectstorage.com/simuna-360/nexr-demo/oppimateriaali/index.html" history="1" highlightClick="0" endSnd="0">
                  <a:extLst>
                    <a:ext uri="{A12FA001-AC4F-418D-AE19-62706E023703}">
                      <ahyp:hlinkClr xmlns:ahyp="http://schemas.microsoft.com/office/drawing/2018/hyperlinkcolor" val="tx"/>
                    </a:ext>
                  </a:extLst>
                </a:hlinkClick>
              </a:rPr>
              <a:t>Open →</a:t>
            </a:r>
            <a:endParaRPr lang="en-US" sz="1200" dirty="0"/>
          </a:p>
        </p:txBody>
      </p:sp>
      <p:sp>
        <p:nvSpPr>
          <p:cNvPr id="17" name="Card 197"/>
          <p:cNvSpPr/>
          <p:nvPr/>
        </p:nvSpPr>
        <p:spPr>
          <a:xfrm>
            <a:off x="9040901" y="1463040"/>
            <a:ext cx="2602154" cy="2103120"/>
          </a:xfrm>
          <a:prstGeom prst="roundRect">
            <a:avLst>
              <a:gd name="adj" fmla="val 6087"/>
            </a:avLst>
          </a:prstGeom>
          <a:solidFill>
            <a:srgbClr val="FFFFFF"/>
          </a:solidFill>
          <a:ln w="9525">
            <a:solidFill>
              <a:srgbClr val="E4DED9"/>
            </a:solidFill>
            <a:prstDash val="solid"/>
          </a:ln>
        </p:spPr>
      </p:sp>
      <p:sp>
        <p:nvSpPr>
          <p:cNvPr id="18" name="Card title 198"/>
          <p:cNvSpPr txBox="1"/>
          <p:nvPr/>
        </p:nvSpPr>
        <p:spPr>
          <a:xfrm>
            <a:off x="9223781" y="1645920"/>
            <a:ext cx="2236394" cy="457200"/>
          </a:xfrm>
          <a:prstGeom prst="rect">
            <a:avLst/>
          </a:prstGeom>
          <a:noFill/>
          <a:ln/>
        </p:spPr>
        <p:txBody>
          <a:bodyPr wrap="square" lIns="0" tIns="0" rIns="0" bIns="0" rtlCol="0" anchor="t"/>
          <a:lstStyle/>
          <a:p>
            <a:pPr indent="0" marL="0">
              <a:buNone/>
            </a:pPr>
            <a:r>
              <a:rPr lang="en-US" sz="1400" b="1" dirty="0">
                <a:solidFill>
                  <a:schemeClr val="tx1"/>
                </a:solidFill>
              </a:rPr>
              <a:t>Dispensing medication into a pill organiser</a:t>
            </a:r>
            <a:endParaRPr lang="en-US" sz="1400" dirty="0"/>
          </a:p>
        </p:txBody>
      </p:sp>
      <p:sp>
        <p:nvSpPr>
          <p:cNvPr id="19" name="Card text 199"/>
          <p:cNvSpPr txBox="1"/>
          <p:nvPr/>
        </p:nvSpPr>
        <p:spPr>
          <a:xfrm>
            <a:off x="9223781" y="2176272"/>
            <a:ext cx="2236394" cy="749808"/>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360° simulation. Five languages.</a:t>
            </a:r>
            <a:endParaRPr lang="en-US" sz="1200" dirty="0"/>
          </a:p>
        </p:txBody>
      </p:sp>
      <p:sp>
        <p:nvSpPr>
          <p:cNvPr id="20" name="Button 200">
            <a:hlinkClick r:id="rId4" tooltip="https://media-3dbear.hel1.your-objectstorage.com/simuna-360/nexr-demo/dosetti/index.html#lang=en"/>
          </p:cNvPr>
          <p:cNvSpPr txBox="1"/>
          <p:nvPr/>
        </p:nvSpPr>
        <p:spPr>
          <a:xfrm>
            <a:off x="9223781" y="3035808"/>
            <a:ext cx="1051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u="none" dirty="0">
                <a:solidFill>
                  <a:schemeClr val="bg1"/>
                </a:solidFill>
                <a:hlinkClick r:id="rId4" invalidUrl="" action="" tgtFrame="" tooltip="https://media-3dbear.hel1.your-objectstorage.com/simuna-360/nexr-demo/dosetti/index.html#lang=en" history="1" highlightClick="0" endSnd="0">
                  <a:extLst>
                    <a:ext uri="{A12FA001-AC4F-418D-AE19-62706E023703}">
                      <ahyp:hlinkClr xmlns:ahyp="http://schemas.microsoft.com/office/drawing/2018/hyperlinkcolor" val="tx"/>
                    </a:ext>
                  </a:extLst>
                </a:hlinkClick>
              </a:rPr>
              <a:t>Open →</a:t>
            </a:r>
            <a:endParaRPr lang="en-US" sz="1200" dirty="0"/>
          </a:p>
        </p:txBody>
      </p:sp>
      <p:sp>
        <p:nvSpPr>
          <p:cNvPr id="21" name="Card 201"/>
          <p:cNvSpPr/>
          <p:nvPr/>
        </p:nvSpPr>
        <p:spPr>
          <a:xfrm>
            <a:off x="548640" y="3794760"/>
            <a:ext cx="2602154" cy="2103120"/>
          </a:xfrm>
          <a:prstGeom prst="roundRect">
            <a:avLst>
              <a:gd name="adj" fmla="val 6087"/>
            </a:avLst>
          </a:prstGeom>
          <a:solidFill>
            <a:srgbClr val="FFFFFF"/>
          </a:solidFill>
          <a:ln w="9525">
            <a:solidFill>
              <a:srgbClr val="E4DED9"/>
            </a:solidFill>
            <a:prstDash val="solid"/>
          </a:ln>
        </p:spPr>
      </p:sp>
      <p:sp>
        <p:nvSpPr>
          <p:cNvPr id="22" name="Card title 202"/>
          <p:cNvSpPr txBox="1"/>
          <p:nvPr/>
        </p:nvSpPr>
        <p:spPr>
          <a:xfrm>
            <a:off x="731520" y="3977640"/>
            <a:ext cx="2236394" cy="457200"/>
          </a:xfrm>
          <a:prstGeom prst="rect">
            <a:avLst/>
          </a:prstGeom>
          <a:noFill/>
          <a:ln/>
        </p:spPr>
        <p:txBody>
          <a:bodyPr wrap="square" lIns="0" tIns="0" rIns="0" bIns="0" rtlCol="0" anchor="t"/>
          <a:lstStyle/>
          <a:p>
            <a:pPr indent="0" marL="0">
              <a:buNone/>
            </a:pPr>
            <a:r>
              <a:rPr lang="en-US" sz="1400" b="1" dirty="0">
                <a:solidFill>
                  <a:schemeClr val="tx1"/>
                </a:solidFill>
              </a:rPr>
              <a:t>Substance and medication interactions</a:t>
            </a:r>
            <a:endParaRPr lang="en-US" sz="1400" dirty="0"/>
          </a:p>
        </p:txBody>
      </p:sp>
      <p:sp>
        <p:nvSpPr>
          <p:cNvPr id="23" name="Card text 203"/>
          <p:cNvSpPr txBox="1"/>
          <p:nvPr/>
        </p:nvSpPr>
        <p:spPr>
          <a:xfrm>
            <a:off x="731520" y="4507992"/>
            <a:ext cx="2236394" cy="749808"/>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Interactive micro-simulation: give substances, watch alertness, breathing and pulse react. Five languages.</a:t>
            </a:r>
            <a:endParaRPr lang="en-US" sz="1200" dirty="0"/>
          </a:p>
        </p:txBody>
      </p:sp>
      <p:sp>
        <p:nvSpPr>
          <p:cNvPr id="24" name="Button 204">
            <a:hlinkClick r:id="rId5" tooltip="https://media-3dbear.hel1.your-objectstorage.com/simuna-360/nexr-demo/tikku-ukko/index.html"/>
          </p:cNvPr>
          <p:cNvSpPr txBox="1"/>
          <p:nvPr/>
        </p:nvSpPr>
        <p:spPr>
          <a:xfrm>
            <a:off x="731520" y="5367528"/>
            <a:ext cx="1051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u="none" dirty="0">
                <a:solidFill>
                  <a:schemeClr val="bg1"/>
                </a:solidFill>
                <a:hlinkClick r:id="rId5" invalidUrl="" action="" tgtFrame="" tooltip="https://media-3dbear.hel1.your-objectstorage.com/simuna-360/nexr-demo/tikku-ukko/index.html" history="1" highlightClick="0" endSnd="0">
                  <a:extLst>
                    <a:ext uri="{A12FA001-AC4F-418D-AE19-62706E023703}">
                      <ahyp:hlinkClr xmlns:ahyp="http://schemas.microsoft.com/office/drawing/2018/hyperlinkcolor" val="tx"/>
                    </a:ext>
                  </a:extLst>
                </a:hlinkClick>
              </a:rPr>
              <a:t>Open →</a:t>
            </a:r>
            <a:endParaRPr lang="en-US" sz="1200" dirty="0"/>
          </a:p>
        </p:txBody>
      </p:sp>
      <p:sp>
        <p:nvSpPr>
          <p:cNvPr id="25" name="Card 205"/>
          <p:cNvSpPr/>
          <p:nvPr/>
        </p:nvSpPr>
        <p:spPr>
          <a:xfrm>
            <a:off x="3379394" y="3794760"/>
            <a:ext cx="2602154" cy="2103120"/>
          </a:xfrm>
          <a:prstGeom prst="roundRect">
            <a:avLst>
              <a:gd name="adj" fmla="val 6087"/>
            </a:avLst>
          </a:prstGeom>
          <a:solidFill>
            <a:srgbClr val="FFFFFF"/>
          </a:solidFill>
          <a:ln w="9525">
            <a:solidFill>
              <a:srgbClr val="E4DED9"/>
            </a:solidFill>
            <a:prstDash val="solid"/>
          </a:ln>
        </p:spPr>
      </p:sp>
      <p:sp>
        <p:nvSpPr>
          <p:cNvPr id="26" name="Card title 206"/>
          <p:cNvSpPr txBox="1"/>
          <p:nvPr/>
        </p:nvSpPr>
        <p:spPr>
          <a:xfrm>
            <a:off x="3562274" y="3977640"/>
            <a:ext cx="2236394" cy="457200"/>
          </a:xfrm>
          <a:prstGeom prst="rect">
            <a:avLst/>
          </a:prstGeom>
          <a:noFill/>
          <a:ln/>
        </p:spPr>
        <p:txBody>
          <a:bodyPr wrap="square" lIns="0" tIns="0" rIns="0" bIns="0" rtlCol="0" anchor="t"/>
          <a:lstStyle/>
          <a:p>
            <a:pPr indent="0" marL="0">
              <a:buNone/>
            </a:pPr>
            <a:r>
              <a:rPr lang="en-US" sz="1400" b="1" dirty="0">
                <a:solidFill>
                  <a:schemeClr val="tx1"/>
                </a:solidFill>
              </a:rPr>
              <a:t>Spoken conversation practice</a:t>
            </a:r>
            <a:endParaRPr lang="en-US" sz="1400" dirty="0"/>
          </a:p>
        </p:txBody>
      </p:sp>
      <p:sp>
        <p:nvSpPr>
          <p:cNvPr id="27" name="Card text 207"/>
          <p:cNvSpPr txBox="1"/>
          <p:nvPr/>
        </p:nvSpPr>
        <p:spPr>
          <a:xfrm>
            <a:off x="3562274" y="4507992"/>
            <a:ext cx="2236394" cy="749808"/>
          </a:xfrm>
          <a:prstGeom prst="rect">
            <a:avLst/>
          </a:prstGeom>
          <a:noFill/>
          <a:ln/>
        </p:spPr>
        <p:txBody>
          <a:bodyPr wrap="square" lIns="0" tIns="0" rIns="0" bIns="0" rtlCol="0" anchor="t"/>
          <a:lstStyle/>
          <a:p>
            <a:pPr indent="0" marL="0">
              <a:spcAft>
                <a:spcPts val="400"/>
              </a:spcAft>
              <a:buNone/>
            </a:pPr>
            <a:r>
              <a:rPr lang="en-US" sz="1200" dirty="0">
                <a:solidFill>
                  <a:schemeClr val="accent5"/>
                </a:solidFill>
              </a:rPr>
              <a:t>Motivational interviewing with a client, Mikko. From the Finnish course; in Finnish.</a:t>
            </a:r>
            <a:endParaRPr lang="en-US" sz="1200" dirty="0"/>
          </a:p>
        </p:txBody>
      </p:sp>
      <p:sp>
        <p:nvSpPr>
          <p:cNvPr id="28" name="Button 208">
            <a:hlinkClick r:id="rId6" tooltip="https://keskustelut.simuna.io/scenarios/mipa/03-motivoiva-haastattelu-mikko"/>
          </p:cNvPr>
          <p:cNvSpPr txBox="1"/>
          <p:nvPr/>
        </p:nvSpPr>
        <p:spPr>
          <a:xfrm>
            <a:off x="3562274" y="5367528"/>
            <a:ext cx="1051560" cy="329184"/>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u="none" dirty="0">
                <a:solidFill>
                  <a:schemeClr val="bg1"/>
                </a:solidFill>
                <a:hlinkClick r:id="rId6" invalidUrl="" action="" tgtFrame="" tooltip="https://keskustelut.simuna.io/scenarios/mipa/03-motivoiva-haastattelu-mikko" history="1" highlightClick="0" endSnd="0">
                  <a:extLst>
                    <a:ext uri="{A12FA001-AC4F-418D-AE19-62706E023703}">
                      <ahyp:hlinkClr xmlns:ahyp="http://schemas.microsoft.com/office/drawing/2018/hyperlinkcolor" val="tx"/>
                    </a:ext>
                  </a:extLst>
                </a:hlinkClick>
              </a:rPr>
              <a:t>Open →</a:t>
            </a:r>
            <a:endParaRPr lang="en-US" sz="1200" dirty="0"/>
          </a:p>
        </p:txBody>
      </p:sp>
      <p:sp>
        <p:nvSpPr>
          <p:cNvPr id="29" name="Card 209"/>
          <p:cNvSpPr/>
          <p:nvPr/>
        </p:nvSpPr>
        <p:spPr>
          <a:xfrm>
            <a:off x="6210148" y="3794760"/>
            <a:ext cx="5432908" cy="2103120"/>
          </a:xfrm>
          <a:prstGeom prst="roundRect">
            <a:avLst>
              <a:gd name="adj" fmla="val 6087"/>
            </a:avLst>
          </a:prstGeom>
          <a:solidFill>
            <a:srgbClr val="E3F6F0"/>
          </a:solidFill>
          <a:ln w="9525">
            <a:solidFill>
              <a:srgbClr val="A8E3D3"/>
            </a:solidFill>
            <a:prstDash val="solid"/>
          </a:ln>
        </p:spPr>
      </p:sp>
      <p:sp>
        <p:nvSpPr>
          <p:cNvPr id="30" name="Card title 210"/>
          <p:cNvSpPr txBox="1"/>
          <p:nvPr/>
        </p:nvSpPr>
        <p:spPr>
          <a:xfrm>
            <a:off x="6393028" y="3977640"/>
            <a:ext cx="5067148" cy="310896"/>
          </a:xfrm>
          <a:prstGeom prst="rect">
            <a:avLst/>
          </a:prstGeom>
          <a:noFill/>
          <a:ln/>
        </p:spPr>
        <p:txBody>
          <a:bodyPr wrap="square" lIns="0" tIns="0" rIns="0" bIns="0" rtlCol="0" anchor="t"/>
          <a:lstStyle/>
          <a:p>
            <a:pPr indent="0" marL="0">
              <a:buNone/>
            </a:pPr>
            <a:r>
              <a:rPr lang="en-US" sz="1500" b="1" dirty="0">
                <a:solidFill>
                  <a:schemeClr val="tx1"/>
                </a:solidFill>
              </a:rPr>
              <a:t>Ask us for a test workspace</a:t>
            </a:r>
            <a:endParaRPr lang="en-US" sz="1500" dirty="0"/>
          </a:p>
        </p:txBody>
      </p:sp>
      <p:sp>
        <p:nvSpPr>
          <p:cNvPr id="31" name="Card text 211"/>
          <p:cNvSpPr txBox="1"/>
          <p:nvPr/>
        </p:nvSpPr>
        <p:spPr>
          <a:xfrm>
            <a:off x="6393028" y="4361688"/>
            <a:ext cx="5067148" cy="896112"/>
          </a:xfrm>
          <a:prstGeom prst="rect">
            <a:avLst/>
          </a:prstGeom>
          <a:noFill/>
          <a:ln/>
        </p:spPr>
        <p:txBody>
          <a:bodyPr wrap="square" lIns="0" tIns="0" rIns="0" bIns="0" rtlCol="0" anchor="t"/>
          <a:lstStyle/>
          <a:p>
            <a:pPr indent="0" marL="0">
              <a:spcAft>
                <a:spcPts val="400"/>
              </a:spcAft>
              <a:buNone/>
            </a:pPr>
            <a:r>
              <a:rPr lang="en-US" sz="1300" dirty="0">
                <a:solidFill>
                  <a:schemeClr val="accent5"/>
                </a:solidFill>
              </a:rPr>
              <a:t>Describe one care situation from your own curriculum, and we build it together with you.</a:t>
            </a:r>
            <a:endParaRPr lang="en-US" sz="1300" dirty="0"/>
          </a:p>
        </p:txBody>
      </p:sp>
      <p:sp>
        <p:nvSpPr>
          <p:cNvPr id="32" name="Contact email"/>
          <p:cNvSpPr txBox="1"/>
          <p:nvPr/>
        </p:nvSpPr>
        <p:spPr>
          <a:xfrm>
            <a:off x="6393028" y="5394960"/>
            <a:ext cx="2743200" cy="274320"/>
          </a:xfrm>
          <a:prstGeom prst="rect">
            <a:avLst/>
          </a:prstGeom>
          <a:noFill/>
          <a:ln/>
        </p:spPr>
        <p:txBody>
          <a:bodyPr wrap="square" lIns="0" tIns="0" rIns="0" bIns="0" rtlCol="0" anchor="ctr"/>
          <a:lstStyle/>
          <a:p>
            <a:pPr indent="0" marL="0">
              <a:buNone/>
            </a:pPr>
            <a:r>
              <a:rPr lang="en-US" sz="1300" b="1" u="sng" dirty="0">
                <a:solidFill>
                  <a:schemeClr val="accent2"/>
                </a:solidFill>
                <a:hlinkClick r:id="rId7" invalidUrl="" action="" tgtFrame="" tooltip="" history="1" highlightClick="0" endSnd="0">
                  <a:extLst>
                    <a:ext uri="{A12FA001-AC4F-418D-AE19-62706E023703}">
                      <ahyp:hlinkClr xmlns:ahyp="http://schemas.microsoft.com/office/drawing/2018/hyperlinkcolor" val="tx"/>
                    </a:ext>
                  </a:extLst>
                </a:hlinkClick>
              </a:rPr>
              <a:t>jussi@3dbear.fi</a:t>
            </a:r>
            <a:endParaRPr lang="en-US" sz="13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7D8C8F"/>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11094415" cy="292608"/>
          </a:xfrm>
          <a:prstGeom prst="rect">
            <a:avLst/>
          </a:prstGeom>
          <a:noFill/>
          <a:ln/>
        </p:spPr>
        <p:txBody>
          <a:bodyPr wrap="square" lIns="0" tIns="0" rIns="0" bIns="0" rtlCol="0" anchor="ctr"/>
          <a:lstStyle/>
          <a:p>
            <a:pPr indent="0" marL="0">
              <a:buNone/>
            </a:pPr>
            <a:r>
              <a:rPr lang="en-US" sz="1100" b="1" spc="200" kern="0" dirty="0">
                <a:solidFill>
                  <a:schemeClr val="accent1"/>
                </a:solidFill>
              </a:rPr>
              <a:t>THANK YOU</a:t>
            </a:r>
            <a:endParaRPr lang="en-US" sz="1100" dirty="0"/>
          </a:p>
        </p:txBody>
      </p:sp>
      <p:sp>
        <p:nvSpPr>
          <p:cNvPr id="3" name="Text 1"/>
          <p:cNvSpPr/>
          <p:nvPr>
            <p:ph idx="103" type="title" hasCustomPrompt="1"/>
          </p:nvPr>
        </p:nvSpPr>
        <p:spPr>
          <a:xfrm>
            <a:off x="548640" y="731520"/>
            <a:ext cx="11094415" cy="960120"/>
          </a:xfrm>
          <a:prstGeom prst="rect">
            <a:avLst/>
          </a:prstGeom>
          <a:noFill/>
          <a:ln/>
        </p:spPr>
        <p:txBody>
          <a:bodyPr wrap="square" lIns="0" tIns="0" rIns="0" bIns="0" rtlCol="0" anchor="t"/>
          <a:lstStyle/>
          <a:p>
            <a:pPr algn="l" indent="0" marL="0">
              <a:buNone/>
            </a:pPr>
            <a:r>
              <a:rPr lang="en-US" sz="3000" b="1" dirty="0">
                <a:solidFill>
                  <a:schemeClr val="bg1"/>
                </a:solidFill>
              </a:rPr>
              <a:t>From prompt to practice, with the teacher in charge</a:t>
            </a:r>
            <a:endParaRPr lang="en-US" sz="3000" dirty="0"/>
          </a:p>
        </p:txBody>
      </p:sp>
      <p:sp>
        <p:nvSpPr>
          <p:cNvPr id="5" name="Card 212"/>
          <p:cNvSpPr/>
          <p:nvPr/>
        </p:nvSpPr>
        <p:spPr>
          <a:xfrm>
            <a:off x="548640" y="1463040"/>
            <a:ext cx="3545738" cy="1417320"/>
          </a:xfrm>
          <a:prstGeom prst="roundRect">
            <a:avLst>
              <a:gd name="adj" fmla="val 9032"/>
            </a:avLst>
          </a:prstGeom>
          <a:solidFill>
            <a:srgbClr val="FFFFFF">
              <a:alpha val="6000"/>
            </a:srgbClr>
          </a:solidFill>
          <a:ln w="9525">
            <a:solidFill>
              <a:srgbClr val="FFFFFF">
                <a:alpha val="18000"/>
              </a:srgbClr>
            </a:solidFill>
            <a:prstDash val="solid"/>
          </a:ln>
        </p:spPr>
      </p:sp>
      <p:sp>
        <p:nvSpPr>
          <p:cNvPr id="6" name="Card title 213"/>
          <p:cNvSpPr txBox="1"/>
          <p:nvPr/>
        </p:nvSpPr>
        <p:spPr>
          <a:xfrm>
            <a:off x="731520" y="1645920"/>
            <a:ext cx="3179978" cy="310896"/>
          </a:xfrm>
          <a:prstGeom prst="rect">
            <a:avLst/>
          </a:prstGeom>
          <a:noFill/>
          <a:ln/>
        </p:spPr>
        <p:txBody>
          <a:bodyPr wrap="square" lIns="0" tIns="0" rIns="0" bIns="0" rtlCol="0" anchor="t"/>
          <a:lstStyle/>
          <a:p>
            <a:pPr indent="0" marL="0">
              <a:buNone/>
            </a:pPr>
            <a:r>
              <a:rPr lang="en-US" sz="1500" b="1" dirty="0">
                <a:solidFill>
                  <a:schemeClr val="bg1"/>
                </a:solidFill>
              </a:rPr>
              <a:t>1 · Describe</a:t>
            </a:r>
            <a:endParaRPr lang="en-US" sz="1500" dirty="0"/>
          </a:p>
        </p:txBody>
      </p:sp>
      <p:sp>
        <p:nvSpPr>
          <p:cNvPr id="7" name="Card text 214"/>
          <p:cNvSpPr txBox="1"/>
          <p:nvPr/>
        </p:nvSpPr>
        <p:spPr>
          <a:xfrm>
            <a:off x="731520" y="2029968"/>
            <a:ext cx="3179978" cy="667512"/>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The teacher starts from a care situation and a learning outcome, not from technology.</a:t>
            </a:r>
            <a:endParaRPr lang="en-US" sz="1300" dirty="0"/>
          </a:p>
        </p:txBody>
      </p:sp>
      <p:sp>
        <p:nvSpPr>
          <p:cNvPr id="8" name="Card 215"/>
          <p:cNvSpPr/>
          <p:nvPr/>
        </p:nvSpPr>
        <p:spPr>
          <a:xfrm>
            <a:off x="4322978" y="1463040"/>
            <a:ext cx="3545738" cy="1417320"/>
          </a:xfrm>
          <a:prstGeom prst="roundRect">
            <a:avLst>
              <a:gd name="adj" fmla="val 9032"/>
            </a:avLst>
          </a:prstGeom>
          <a:solidFill>
            <a:srgbClr val="FFFFFF">
              <a:alpha val="6000"/>
            </a:srgbClr>
          </a:solidFill>
          <a:ln w="9525">
            <a:solidFill>
              <a:srgbClr val="FFFFFF">
                <a:alpha val="18000"/>
              </a:srgbClr>
            </a:solidFill>
            <a:prstDash val="solid"/>
          </a:ln>
        </p:spPr>
      </p:sp>
      <p:sp>
        <p:nvSpPr>
          <p:cNvPr id="9" name="Card title 216"/>
          <p:cNvSpPr txBox="1"/>
          <p:nvPr/>
        </p:nvSpPr>
        <p:spPr>
          <a:xfrm>
            <a:off x="4505858" y="1645920"/>
            <a:ext cx="3179978" cy="310896"/>
          </a:xfrm>
          <a:prstGeom prst="rect">
            <a:avLst/>
          </a:prstGeom>
          <a:noFill/>
          <a:ln/>
        </p:spPr>
        <p:txBody>
          <a:bodyPr wrap="square" lIns="0" tIns="0" rIns="0" bIns="0" rtlCol="0" anchor="t"/>
          <a:lstStyle/>
          <a:p>
            <a:pPr indent="0" marL="0">
              <a:buNone/>
            </a:pPr>
            <a:r>
              <a:rPr lang="en-US" sz="1500" b="1" dirty="0">
                <a:solidFill>
                  <a:schemeClr val="bg1"/>
                </a:solidFill>
              </a:rPr>
              <a:t>2 · Process</a:t>
            </a:r>
            <a:endParaRPr lang="en-US" sz="1500" dirty="0"/>
          </a:p>
        </p:txBody>
      </p:sp>
      <p:sp>
        <p:nvSpPr>
          <p:cNvPr id="10" name="Card text 217"/>
          <p:cNvSpPr txBox="1"/>
          <p:nvPr/>
        </p:nvSpPr>
        <p:spPr>
          <a:xfrm>
            <a:off x="4505858" y="2029968"/>
            <a:ext cx="3179978" cy="667512"/>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AI produces within written methods and checks, and people review what matters clinically.</a:t>
            </a:r>
            <a:endParaRPr lang="en-US" sz="1300" dirty="0"/>
          </a:p>
        </p:txBody>
      </p:sp>
      <p:sp>
        <p:nvSpPr>
          <p:cNvPr id="11" name="Card 218"/>
          <p:cNvSpPr/>
          <p:nvPr/>
        </p:nvSpPr>
        <p:spPr>
          <a:xfrm>
            <a:off x="8097317" y="1463040"/>
            <a:ext cx="3545738" cy="1417320"/>
          </a:xfrm>
          <a:prstGeom prst="roundRect">
            <a:avLst>
              <a:gd name="adj" fmla="val 9032"/>
            </a:avLst>
          </a:prstGeom>
          <a:solidFill>
            <a:srgbClr val="FFFFFF">
              <a:alpha val="6000"/>
            </a:srgbClr>
          </a:solidFill>
          <a:ln w="9525">
            <a:solidFill>
              <a:srgbClr val="FFFFFF">
                <a:alpha val="18000"/>
              </a:srgbClr>
            </a:solidFill>
            <a:prstDash val="solid"/>
          </a:ln>
        </p:spPr>
      </p:sp>
      <p:sp>
        <p:nvSpPr>
          <p:cNvPr id="12" name="Card title 219"/>
          <p:cNvSpPr txBox="1"/>
          <p:nvPr/>
        </p:nvSpPr>
        <p:spPr>
          <a:xfrm>
            <a:off x="8280197" y="1645920"/>
            <a:ext cx="3179978" cy="310896"/>
          </a:xfrm>
          <a:prstGeom prst="rect">
            <a:avLst/>
          </a:prstGeom>
          <a:noFill/>
          <a:ln/>
        </p:spPr>
        <p:txBody>
          <a:bodyPr wrap="square" lIns="0" tIns="0" rIns="0" bIns="0" rtlCol="0" anchor="t"/>
          <a:lstStyle/>
          <a:p>
            <a:pPr indent="0" marL="0">
              <a:buNone/>
            </a:pPr>
            <a:r>
              <a:rPr lang="en-US" sz="1500" b="1" dirty="0">
                <a:solidFill>
                  <a:schemeClr val="bg1"/>
                </a:solidFill>
              </a:rPr>
              <a:t>3 · Share</a:t>
            </a:r>
            <a:endParaRPr lang="en-US" sz="1500" dirty="0"/>
          </a:p>
        </p:txBody>
      </p:sp>
      <p:sp>
        <p:nvSpPr>
          <p:cNvPr id="13" name="Card text 220"/>
          <p:cNvSpPr txBox="1"/>
          <p:nvPr/>
        </p:nvSpPr>
        <p:spPr>
          <a:xfrm>
            <a:off x="8280197" y="2029968"/>
            <a:ext cx="3179978" cy="667512"/>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Scenarios can be reused, translated and adapted across countries.</a:t>
            </a:r>
            <a:endParaRPr lang="en-US" sz="1300" dirty="0"/>
          </a:p>
        </p:txBody>
      </p:sp>
      <p:sp>
        <p:nvSpPr>
          <p:cNvPr id="14" name="Contact OVGU"/>
          <p:cNvSpPr txBox="1"/>
          <p:nvPr/>
        </p:nvSpPr>
        <p:spPr>
          <a:xfrm>
            <a:off x="548640" y="3154680"/>
            <a:ext cx="5432908" cy="914400"/>
          </a:xfrm>
          <a:prstGeom prst="rect">
            <a:avLst/>
          </a:prstGeom>
          <a:noFill/>
          <a:ln/>
        </p:spPr>
        <p:txBody>
          <a:bodyPr wrap="square" lIns="0" tIns="0" rIns="0" bIns="0" rtlCol="0" anchor="t"/>
          <a:lstStyle/>
          <a:p>
            <a:pPr indent="0" marL="0">
              <a:buNone/>
            </a:pPr>
            <a:r>
              <a:rPr lang="en-US" sz="1500" b="1" dirty="0">
                <a:solidFill>
                  <a:schemeClr val="bg1"/>
                </a:solidFill>
              </a:rPr>
              <a:t>Hannes Tegelbeckers, PhD</a:t>
            </a:r>
            <a:endParaRPr lang="en-US" sz="1500" dirty="0"/>
          </a:p>
          <a:p>
            <a:pPr indent="0" marL="0">
              <a:buNone/>
            </a:pPr>
            <a:r>
              <a:rPr lang="en-US" sz="1500" dirty="0">
                <a:solidFill>
                  <a:schemeClr val="accent6"/>
                </a:solidFill>
              </a:rPr>
              <a:t>Professorship of Engineering Pedagogics and Technical Education</a:t>
            </a:r>
            <a:endParaRPr lang="en-US" sz="1500" dirty="0"/>
          </a:p>
          <a:p>
            <a:pPr indent="0" marL="0">
              <a:buNone/>
            </a:pPr>
            <a:r>
              <a:rPr lang="en-US" sz="1500" dirty="0">
                <a:solidFill>
                  <a:schemeClr val="accent6"/>
                </a:solidFill>
              </a:rPr>
              <a:t>Otto von Guericke University Magdeburg</a:t>
            </a:r>
            <a:endParaRPr lang="en-US" sz="1500" dirty="0"/>
          </a:p>
        </p:txBody>
      </p:sp>
      <p:sp>
        <p:nvSpPr>
          <p:cNvPr id="15" name="Contact 3DBear"/>
          <p:cNvSpPr txBox="1"/>
          <p:nvPr/>
        </p:nvSpPr>
        <p:spPr>
          <a:xfrm>
            <a:off x="6210148" y="3154680"/>
            <a:ext cx="5432908" cy="914400"/>
          </a:xfrm>
          <a:prstGeom prst="rect">
            <a:avLst/>
          </a:prstGeom>
          <a:noFill/>
          <a:ln/>
        </p:spPr>
        <p:txBody>
          <a:bodyPr wrap="square" lIns="0" tIns="0" rIns="0" bIns="0" rtlCol="0" anchor="t"/>
          <a:lstStyle/>
          <a:p>
            <a:pPr indent="0" marL="0">
              <a:buNone/>
            </a:pPr>
            <a:r>
              <a:rPr lang="en-US" sz="1500" b="1" dirty="0">
                <a:solidFill>
                  <a:schemeClr val="bg1"/>
                </a:solidFill>
              </a:rPr>
              <a:t>3DBear, Finland</a:t>
            </a:r>
            <a:endParaRPr lang="en-US" sz="1500" dirty="0"/>
          </a:p>
          <a:p>
            <a:pPr indent="0" marL="0">
              <a:buNone/>
            </a:pPr>
            <a:r>
              <a:rPr lang="en-US" sz="1500" dirty="0">
                <a:solidFill>
                  <a:schemeClr val="accent6"/>
                </a:solidFill>
              </a:rPr>
              <a:t>Simuna Creator</a:t>
            </a:r>
            <a:endParaRPr lang="en-US" sz="1500" dirty="0"/>
          </a:p>
          <a:p>
            <a:pPr indent="0" marL="0">
              <a:buNone/>
            </a:pPr>
            <a:r>
              <a:rPr lang="en-US" sz="1500" u="sng" dirty="0">
                <a:solidFill>
                  <a:schemeClr val="accent6"/>
                </a:solidFill>
                <a:hlinkClick r:id="rId1" invalidUrl="" action="" tgtFrame="" tooltip="" history="1" highlightClick="0" endSnd="0">
                  <a:extLst>
                    <a:ext uri="{A12FA001-AC4F-418D-AE19-62706E023703}">
                      <ahyp:hlinkClr xmlns:ahyp="http://schemas.microsoft.com/office/drawing/2018/hyperlinkcolor" val="tx"/>
                    </a:ext>
                  </a:extLst>
                </a:hlinkClick>
              </a:rPr>
              <a:t>jussi@3dbear.fi</a:t>
            </a:r>
            <a:endParaRPr lang="en-US" sz="1500" dirty="0"/>
          </a:p>
        </p:txBody>
      </p:sp>
      <p:sp>
        <p:nvSpPr>
          <p:cNvPr id="16" name="Divider"/>
          <p:cNvSpPr/>
          <p:nvPr/>
        </p:nvSpPr>
        <p:spPr>
          <a:xfrm>
            <a:off x="548640" y="4434840"/>
            <a:ext cx="11094415" cy="0"/>
          </a:xfrm>
          <a:prstGeom prst="line">
            <a:avLst/>
          </a:prstGeom>
          <a:noFill/>
          <a:ln w="9525">
            <a:solidFill>
              <a:srgbClr val="FFFFFF">
                <a:alpha val="18000"/>
              </a:srgbClr>
            </a:solidFill>
            <a:prstDash val="solid"/>
          </a:ln>
        </p:spPr>
      </p:sp>
      <p:pic>
        <p:nvPicPr>
          <p:cNvPr id="17" name="EU emblem" descr="Co-funded by the European Union">    </p:cNvPr>
          <p:cNvPicPr>
            <a:picLocks noChangeAspect="1"/>
          </p:cNvPicPr>
          <p:nvPr/>
        </p:nvPicPr>
        <p:blipFill>
          <a:blip r:embed="rId2"/>
          <a:stretch>
            <a:fillRect/>
          </a:stretch>
        </p:blipFill>
        <p:spPr>
          <a:xfrm>
            <a:off x="548640" y="4663440"/>
            <a:ext cx="2538484" cy="566928"/>
          </a:xfrm>
          <a:prstGeom prst="rect">
            <a:avLst/>
          </a:prstGeom>
        </p:spPr>
      </p:pic>
      <p:sp>
        <p:nvSpPr>
          <p:cNvPr id="18" name="Disclaimer"/>
          <p:cNvSpPr txBox="1"/>
          <p:nvPr/>
        </p:nvSpPr>
        <p:spPr>
          <a:xfrm>
            <a:off x="3407164" y="4617720"/>
            <a:ext cx="8235892" cy="685800"/>
          </a:xfrm>
          <a:prstGeom prst="rect">
            <a:avLst/>
          </a:prstGeom>
          <a:noFill/>
          <a:ln/>
        </p:spPr>
        <p:txBody>
          <a:bodyPr wrap="square" lIns="0" tIns="0" rIns="0" bIns="0" rtlCol="0" anchor="ctr"/>
          <a:lstStyle/>
          <a:p>
            <a:pPr indent="0" marL="0">
              <a:buNone/>
            </a:pPr>
            <a:r>
              <a:rPr lang="en-US" sz="1000" dirty="0">
                <a:solidFill>
                  <a:schemeClr val="accent6"/>
                </a:solidFill>
              </a:rPr>
              <a:t>NEXR (2025-1-DE02-KA220-VET-000355712) is co-funded by the European Union. Views and opinions expressed are however those of the author(s) only and do not necessarily reflect those of the European Union or the European Education and Culture Executive Agency (EACEA). Neither the European Union nor EACEA can be held responsible for them.</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nchor="ctr"/>
          <a:lstStyle>
            <a:lvl1pPr>
              <a:defRPr sz="900">
                <a:solidFill>
                  <a:schemeClr val="accent6"/>
                </a:solidFill>
              </a:defRPr>
            </a:lvl1pPr>
          </a:lstStyle>
          <a:p>
            <a:pPr algn="r"/>
            <a:fld id="{F7021451-1387-4CA6-816F-3879F97B5CBC}" type="slidenum">
              <a:rPr b="1" lang="en-US"/>
              <a:t>15</a:t>
            </a:fld>
            <a:endParaRPr lang="en-US"/>
          </a:p>
        </p:txBody>
      </p:sp>
    </p:spTree>
  </p:cSld>
  <p:clrMapOvr>
    <a:masterClrMapping/>
  </p:clrMapOvr>
</p:sld>
</file>

<file path=ppt/theme/theme1.xml><?xml version="1.0" encoding="utf-8"?>
<a:theme xmlns:a="http://schemas.openxmlformats.org/drawingml/2006/main" name="NEXR">
  <a:themeElements>
    <a:clrScheme name="NEXR">
      <a:dk1>
        <a:srgbClr val="14252A"/>
      </a:dk1>
      <a:lt1>
        <a:srgbClr val="FFFFFF"/>
      </a:lt1>
      <a:dk2>
        <a:srgbClr val="00363C"/>
      </a:dk2>
      <a:lt2>
        <a:srgbClr val="FAF8F6"/>
      </a:lt2>
      <a:accent1>
        <a:srgbClr val="0CD0A4"/>
      </a:accent1>
      <a:accent2>
        <a:srgbClr val="07836A"/>
      </a:accent2>
      <a:accent3>
        <a:srgbClr val="004B53"/>
      </a:accent3>
      <a:accent4>
        <a:srgbClr val="FCE5DF"/>
      </a:accent4>
      <a:accent5>
        <a:srgbClr val="46565A"/>
      </a:accent5>
      <a:accent6>
        <a:srgbClr val="A9C9C7"/>
      </a:accent6>
      <a:hlink>
        <a:srgbClr val="07836A"/>
      </a:hlink>
      <a:folHlink>
        <a:srgbClr val="004B53"/>
      </a:folHlink>
    </a:clrScheme>
    <a:fontScheme name="NEX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Otto von Guericke University Magdeburg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Prompt to Practice</dc:title>
  <dc:subject>PptxGenJS Presentation</dc:subject>
  <dc:creator>Hannes Tegelbeckers, PhD</dc:creator>
  <cp:lastModifiedBy>Hannes Tegelbeckers, PhD</cp:lastModifiedBy>
  <cp:revision>1</cp:revision>
  <dcterms:created xsi:type="dcterms:W3CDTF">2026-10-28T14:11:10Z</dcterms:created>
  <dcterms:modified xsi:type="dcterms:W3CDTF">2026-10-28T14:11:10Z</dcterms:modified>
</cp:coreProperties>
</file>